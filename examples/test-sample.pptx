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mp4" ContentType="application/octet-stream"/>
  <Default Extension="m4a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embeddings/workbook1.xlsx" ContentType="application/vnd.openxmlformats-officedocument.spreadsheetml.sheet"/>
  <Override PartName="/ppt/embeddings/workbook2.xlsx" ContentType="application/vnd.openxmlformats-officedocument.spreadsheetml.sheet"/>
  <Override PartName="/ppt/embeddings/workbook3.xlsx" ContentType="application/vnd.openxmlformats-officedocument.spreadsheetml.sheet"/>
  <Override PartName="/ppt/embeddings/workbook4.xlsx" ContentType="application/vnd.openxmlformats-officedocument.spreadsheetml.sheet"/>
  <Override PartName="/ppt/embeddings/workbook5.xlsx" ContentType="application/vnd.openxmlformats-officedocument.spreadsheetml.sheet"/>
  <Override PartName="/ppt/embeddings/workbook6.xlsx" ContentType="application/vnd.openxmlformats-officedocument.spreadsheetml.sheet"/>
  <Override PartName="/ppt/embeddings/workbook7.xlsx" ContentType="application/vnd.openxmlformats-officedocument.spreadsheetml.sheet"/>
  <Override PartName="/ppt/embeddings/workbook8.xlsx" ContentType="application/vnd.openxmlformats-officedocument.spreadsheetml.sheet"/>
  <Override PartName="/ppt/embeddings/workbook9.xlsx" ContentType="application/vnd.openxmlformats-officedocument.spreadsheetml.sheet"/>
  <Override PartName="/ppt/embeddings/workbook10.xlsx" ContentType="application/vnd.openxmlformats-officedocument.spreadsheetml.sheet"/>
  <Override PartName="/ppt/embeddings/workbook11.xlsx" ContentType="application/vnd.openxmlformats-officedocument.spreadsheetml.sheet"/>
  <Override PartName="/ppt/embeddings/workbook12.xlsx" ContentType="application/vnd.openxmlformats-officedocument.spreadsheetml.sheet"/>
  <Override PartName="/ppt/embeddings/workbook13.xlsx" ContentType="application/vnd.openxmlformats-officedocument.spreadsheetml.sheet"/>
  <Override PartName="/ppt/embeddings/workbook14.xlsx" ContentType="application/vnd.openxmlformats-officedocument.spreadsheetml.sheet"/>
  <Override PartName="/ppt/embeddings/workbook15.xlsx" ContentType="application/vnd.openxmlformats-officedocument.spreadsheetml.sheet"/>
  <Override PartName="/ppt/embeddings/workbook16.xlsx" ContentType="application/vnd.openxmlformats-officedocument.spreadsheetml.sheet"/>
  <Override PartName="/ppt/embeddings/workbook17.xlsx" ContentType="application/vnd.openxmlformats-officedocument.spreadsheetml.sheet"/>
  <Override PartName="/ppt/embeddings/workbook18.xlsx" ContentType="application/vnd.openxmlformats-officedocument.spreadsheetml.sheet"/>
  <Override PartName="/ppt/commentAuthors.xml" ContentType="application/vnd.openxmlformats-officedocument.presentationml.commentAuthors+xml"/>
  <Override PartName="/ppt/comments/comments20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colors1.xml" ContentType="application/vnd.openxmlformats-officedocument.drawingml.diagramColors+xml"/>
  <Override PartName="/ppt/diagrams/quickStyle1.xml" ContentType="application/vnd.openxmlformats-officedocument.drawingml.diagramQuickStyle+xml"/>
  <Override PartName="/ppt/diagrams/drawing1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Custom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"/>
  <p:defaultTextStyle/>
</p:presentation>
</file>

<file path=ppt/commentAuthors.xml><?xml version="1.0" encoding="utf-8"?>
<p:commentAuthors xmlns:a="http://schemas.openxmlformats.org/drawingml/2006/main" xmlns:r="http://schemas.openxmlformats.org/officeDocument/2006/relationships" xmlns:p="http://schemas.openxmlformats.org/presentationml/2006/main">
  <p:cmAuthor id="0" name="Alice" initials="A" lastIdx="0" clr="FF000000"/>
  <p:cmAuthor id="1" name="Bob" initials="B" lastIdx="0" clr="FF000000"/>
</p:commentAuthors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Table Grid">
    <a:wholeTbl>
      <a:tcTxStyle b="off">
        <a:fontRef idx="minor"/>
        <a:schemeClr val="dk1"/>
      </a:tcTxStyle>
      <a:tcStyle>
        <a:tcBdr>
          <a:left>
            <a:ln w="12700" cmpd="sng">
              <a:solidFill>
                <a:srgbClr val="000000"/>
              </a:solidFill>
            </a:ln>
          </a:left>
          <a:right>
            <a:ln w="12700" cmpd="sng">
              <a:solidFill>
                <a:srgbClr val="000000"/>
              </a:solidFill>
            </a:ln>
          </a:right>
          <a:top>
            <a:ln w="12700" cmpd="sng">
              <a:solidFill>
                <a:srgbClr val="000000"/>
              </a:solidFill>
            </a:ln>
          </a:top>
          <a:bottom>
            <a:ln w="12700" cmpd="sng">
              <a:solidFill>
                <a:srgbClr val="000000"/>
              </a:solidFill>
            </a:ln>
          </a:bottom>
          <a:insideH>
            <a:ln w="12700" cmpd="sng">
              <a:solidFill>
                <a:srgbClr val="000000"/>
              </a:solidFill>
            </a:ln>
          </a:insideH>
          <a:insideV>
            <a:ln w="12700" cmpd="sng">
              <a:solidFill>
                <a:srgbClr val="000000"/>
              </a:solidFill>
            </a:ln>
          </a:insideV>
        </a:tcBdr>
      </a:tcStyle>
    </a:wholeTbl>
    <a:firstRow>
      <a:tcTxStyle b="on">
        <a:fontRef idx="minor"/>
        <a:schemeClr val="dk1"/>
      </a:tcTxStyle>
      <a:tcStyle>
        <a:tcBdr>
          <a:left>
            <a:ln w="12700" cmpd="sng">
              <a:solidFill>
                <a:srgbClr val="000000"/>
              </a:solidFill>
            </a:ln>
          </a:left>
          <a:right>
            <a:ln w="12700" cmpd="sng">
              <a:solidFill>
                <a:srgbClr val="000000"/>
              </a:solidFill>
            </a:ln>
          </a:right>
          <a:top>
            <a:ln w="12700" cmpd="sng">
              <a:solidFill>
                <a:srgbClr val="000000"/>
              </a:solidFill>
            </a:ln>
          </a:top>
          <a:bottom>
            <a:ln w="12700" cmpd="sng">
              <a:solidFill>
                <a:srgbClr val="000000"/>
              </a:solidFill>
            </a:ln>
          </a:bottom>
          <a:insideH>
            <a:ln w="12700" cmpd="sng">
              <a:solidFill>
                <a:srgbClr val="000000"/>
              </a:solidFill>
            </a:ln>
          </a:insideH>
          <a:insideV>
            <a:ln w="12700" cmpd="sng">
              <a:solidFill>
                <a:srgbClr val="000000"/>
              </a:solidFill>
            </a:ln>
          </a:insideV>
        </a:tcBdr>
      </a:tcStyle>
    </a:firstRow>
  </a:tblStyle>
  <a:tblStyle styleId="{5C22544A-7EE6-4342-B048-85BDC9FD1C3A}" styleName="Medium Style 2 - Accent 1">
    <a:wholeTbl>
      <a:tcTxStyle b="off">
        <a:fontRef idx="minor"/>
        <a:schemeClr val="lt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/>
          </a:solidFill>
        </a:fill>
      </a:tcStyle>
    </a:wholeTbl>
    <a:band1H>
      <a:tcStyle>
        <a:fill>
          <a:solidFill>
            <a:schemeClr val="accent1">
              <a:lumMod val="40000"/>
              <a:lumOff val="60000"/>
            </a:schemeClr>
          </a:solidFill>
        </a:fill>
      </a:tcStyle>
    </a:band1H>
    <a:firstRow>
      <a:tcTxStyle b="on">
        <a:fontRef idx="minor"/>
        <a:schemeClr val="lt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ops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theme" Target="theme/theme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Relationship Id="rId27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workbook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workbook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workbook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workbook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workbook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workbook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workbook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workbook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workbook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workbook1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workbook17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workbook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lang="zh-CN"/>
              <a:t>柱状（clustered+系列色）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产品A</c:v>
                </c:pt>
              </c:strCache>
            </c:strRef>
          </c:tx>
          <c:spPr>
            <a:solidFill>
              <a:srgbClr val="6366F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mtCode>General</c:fmtCode>
                <c:ptCount val="4"/>
                <c:pt idx="0">
                  <c:v>10</c:v>
                </c:pt>
                <c:pt idx="1">
                  <c:v>20</c:v>
                </c:pt>
                <c:pt idx="2">
                  <c:v>15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产品B</c:v>
                </c:pt>
              </c:strCache>
            </c:strRef>
          </c:tx>
          <c:spPr>
            <a:solidFill>
              <a:srgbClr val="EC4899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mtCode>General</c:fmtCode>
                <c:ptCount val="4"/>
                <c:pt idx="0">
                  <c:v>15</c:v>
                </c:pt>
                <c:pt idx="1">
                  <c:v>10</c:v>
                </c:pt>
                <c:pt idx="2">
                  <c:v>20</c:v>
                </c:pt>
                <c:pt idx="3">
                  <c:v>18</c:v>
                </c:pt>
              </c:numCache>
            </c:numRef>
          </c:val>
        </c:ser>
        <c:axId val="111"/>
        <c:axId val="112"/>
      </c:barChart>
      <c:catAx>
        <c:axId val="111"/>
        <c:scaling>
          <c:orientation val="minMax"/>
        </c:scaling>
        <c:delete val="0"/>
        <c:axPos val="b"/>
        <c:numFmt formatCode="General" sourceLinked="0"/>
        <c:tickLblPos val="low"/>
        <c:crossAx val="112"/>
        <c:crosses val="autoZero"/>
        <c:auto val="1"/>
        <c:lblAlgn val="ctr"/>
        <c:lblOffset val="100"/>
      </c:catAx>
      <c:valAx>
        <c:axId val="112"/>
        <c:scaling>
          <c:orientation val="minMax"/>
        </c:scaling>
        <c:delete val="0"/>
        <c:axPos val="l"/>
        <c:numFmt formatCode="General" sourceLinked="0"/>
        <c:majorGridlines/>
        <c:tickLblPos val="low"/>
        <c:crossAx val="111"/>
        <c:crosses val="autoZero"/>
        <c:crossBetween val="between"/>
      </c:valAx>
    </c:plotArea>
    <c:legend>
      <c:legendPos val="r"/>
      <c:overlay val="0"/>
    </c:legend>
    <c:plotVisOnly val="1"/>
    <c:dispBlanksAs val="gap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lang="zh-CN"/>
              <a:t>折线（smooth+marker）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北京</c:v>
                </c:pt>
              </c:strCache>
            </c:strRef>
          </c:tx>
          <c:marker>
            <c:symbol val="circle"/>
            <c:size val="7"/>
          </c:marker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mtCode>General</c:fmtCode>
                <c:ptCount val="4"/>
                <c:pt idx="0">
                  <c:v>5</c:v>
                </c:pt>
                <c:pt idx="1">
                  <c:v>15</c:v>
                </c:pt>
                <c:pt idx="2">
                  <c:v>10</c:v>
                </c:pt>
                <c:pt idx="3">
                  <c:v>20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上海</c:v>
                </c:pt>
              </c:strCache>
            </c:strRef>
          </c:tx>
          <c:marker>
            <c:symbol val="circle"/>
            <c:size val="7"/>
          </c:marker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mtCode>General</c:fmtCode>
                <c:ptCount val="4"/>
                <c:pt idx="0">
                  <c:v>10</c:v>
                </c:pt>
                <c:pt idx="1">
                  <c:v>8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  <c:smooth val="1"/>
        </c:ser>
        <c:marker>
          <c:symbol val="circle"/>
        </c:marker>
        <c:axId val="111"/>
        <c:axId val="112"/>
      </c:lineChart>
      <c:catAx>
        <c:axId val="111"/>
        <c:scaling>
          <c:orientation val="minMax"/>
        </c:scaling>
        <c:delete val="0"/>
        <c:axPos val="b"/>
        <c:numFmt formatCode="General" sourceLinked="0"/>
        <c:tickLblPos val="low"/>
        <c:crossAx val="112"/>
        <c:crosses val="autoZero"/>
        <c:auto val="1"/>
        <c:lblAlgn val="ctr"/>
        <c:lblOffset val="100"/>
      </c:catAx>
      <c:valAx>
        <c:axId val="112"/>
        <c:scaling>
          <c:orientation val="minMax"/>
        </c:scaling>
        <c:delete val="0"/>
        <c:axPos val="l"/>
        <c:numFmt formatCode="General" sourceLinked="0"/>
        <c:majorGridlines/>
        <c:tickLblPos val="low"/>
        <c:crossAx val="111"/>
        <c:crosses val="autoZero"/>
        <c:crossBetween val="between"/>
      </c:valAx>
    </c:plotArea>
    <c:legend>
      <c:legendPos val="r"/>
      <c:overlay val="0"/>
    </c:legend>
    <c:plotVisOnly val="1"/>
    <c:dispBlanksAs val="gap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lang="zh-CN"/>
              <a:t>面积（stacked）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areaChart>
        <c:grouping val="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前年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mtCode>General</c:fmtCode>
                <c:ptCount val="4"/>
                <c:pt idx="0">
                  <c:v>10</c:v>
                </c:pt>
                <c:pt idx="1">
                  <c:v>15</c:v>
                </c:pt>
                <c:pt idx="2">
                  <c:v>12</c:v>
                </c:pt>
                <c:pt idx="3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去年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mtCode>General</c:fmtCode>
                <c:ptCount val="4"/>
                <c:pt idx="0">
                  <c:v>15</c:v>
                </c:pt>
                <c:pt idx="1">
                  <c:v>20</c:v>
                </c:pt>
                <c:pt idx="2">
                  <c:v>18</c:v>
                </c:pt>
                <c:pt idx="3">
                  <c:v>25</c:v>
                </c:pt>
              </c:numCache>
            </c:numRef>
          </c:val>
        </c:ser>
        <c:axId val="111"/>
        <c:axId val="112"/>
      </c:areaChart>
      <c:catAx>
        <c:axId val="111"/>
        <c:scaling>
          <c:orientation val="minMax"/>
        </c:scaling>
        <c:delete val="0"/>
        <c:axPos val="b"/>
        <c:numFmt formatCode="General" sourceLinked="0"/>
        <c:tickLblPos val="low"/>
        <c:crossAx val="112"/>
        <c:crosses val="autoZero"/>
        <c:auto val="1"/>
        <c:lblAlgn val="ctr"/>
        <c:lblOffset val="100"/>
      </c:catAx>
      <c:valAx>
        <c:axId val="112"/>
        <c:scaling>
          <c:orientation val="minMax"/>
        </c:scaling>
        <c:delete val="0"/>
        <c:axPos val="l"/>
        <c:numFmt formatCode="General" sourceLinked="0"/>
        <c:majorGridlines/>
        <c:tickLblPos val="low"/>
        <c:crossAx val="111"/>
        <c:crosses val="autoZero"/>
        <c:crossBetween val="between"/>
      </c:valAx>
    </c:plotArea>
    <c:legend>
      <c:legendPos val="r"/>
      <c:overlay val="0"/>
    </c:legend>
    <c:plotVisOnly val="1"/>
    <c:dispBlanksAs val="gap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lang="zh-CN"/>
              <a:t>饼图（varyColors+百分比标签）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pie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研发</c:v>
                </c:pt>
                <c:pt idx="1">
                  <c:v>销售</c:v>
                </c:pt>
                <c:pt idx="2">
                  <c:v>运营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fmtCode>General</c:fm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dLbls>
          <c:showVal val="0"/>
          <c:showPercent val="1"/>
          <c:showSer val="0"/>
          <c:showCatName val="0"/>
        </c:dLbls>
      </c:pieChart>
    </c:plotArea>
    <c:legend>
      <c:legendPos val="b"/>
      <c:overlay val="0"/>
    </c:legend>
    <c:plotVisOnly val="1"/>
    <c:dispBlanksAs val="gap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lang="zh-CN"/>
              <a:t>散点（marker）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scatterChart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组1</c:v>
                </c:pt>
              </c:strCache>
            </c:strRef>
          </c:tx>
          <c:marker>
            <c:symbol val="circle"/>
            <c:size val="7"/>
          </c:marker>
          <c:xVal>
            <c:numRef>
              <c:f>Sheet1!$B$2:$B$6</c:f>
              <c:numCache>
                <c:fmtCode>General</c:fm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Sheet1!$C$2:$C$6</c:f>
              <c:numCache>
                <c:fmtCode>General</c:fmtCode>
                <c:ptCount val="5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5</c:v>
                </c:pt>
                <c:pt idx="4">
                  <c:v>6</c:v>
                </c:pt>
              </c:numCache>
            </c:numRef>
          </c:yVal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组2</c:v>
                </c:pt>
              </c:strCache>
            </c:strRef>
          </c:tx>
          <c:marker>
            <c:symbol val="circle"/>
            <c:size val="7"/>
          </c:marker>
          <c:xVal>
            <c:numRef>
              <c:f>Sheet1!$B$2:$B$6</c:f>
              <c:numCache>
                <c:fmtCode>General</c:fm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Sheet1!$C$2:$C$6</c:f>
              <c:numCache>
                <c:fmtCode>General</c:fmtCode>
                <c:ptCount val="5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1</c:v>
                </c:pt>
              </c:numCache>
            </c:numRef>
          </c:yVal>
        </c:ser>
        <c:axId val="111"/>
        <c:axId val="112"/>
      </c:scatterChart>
      <c:valAx>
        <c:axId val="111"/>
        <c:scaling>
          <c:orientation val="minMax"/>
        </c:scaling>
        <c:delete val="0"/>
        <c:axPos val="b"/>
        <c:numFmt formatCode="General" sourceLinked="0"/>
        <c:majorGridlines/>
        <c:tickLblPos val="low"/>
        <c:crossAx val="112"/>
        <c:crosses val="autoZero"/>
      </c:valAx>
      <c:valAx>
        <c:axId val="112"/>
        <c:scaling>
          <c:orientation val="minMax"/>
        </c:scaling>
        <c:delete val="0"/>
        <c:axPos val="l"/>
        <c:numFmt formatCode="General" sourceLinked="0"/>
        <c:majorGridlines/>
        <c:tickLblPos val="low"/>
        <c:crossAx val="111"/>
        <c:crosses val="autoZero"/>
        <c:crossBetween val="between"/>
      </c:valAx>
    </c:plotArea>
    <c:legend>
      <c:legendPos val="r"/>
      <c:overlay val="0"/>
    </c:legend>
    <c:plotVisOnly val="1"/>
    <c:dispBlanksAs val="gap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lang="zh-CN"/>
              <a:t>横向百分比堆叠（#,##0%）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已完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mtCode>General</c:fmtCode>
                <c:ptCount val="3"/>
                <c:pt idx="0">
                  <c:v>30</c:v>
                </c:pt>
                <c:pt idx="1">
                  <c:v>50</c:v>
                </c:pt>
                <c:pt idx="2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未完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mtCode>General</c:fmtCode>
                <c:ptCount val="3"/>
                <c:pt idx="0">
                  <c:v>70</c:v>
                </c:pt>
                <c:pt idx="1">
                  <c:v>50</c:v>
                </c:pt>
                <c:pt idx="2">
                  <c:v>80</c:v>
                </c:pt>
              </c:numCache>
            </c:numRef>
          </c:val>
        </c:ser>
        <c:axId val="111"/>
        <c:axId val="112"/>
      </c:barChart>
      <c:catAx>
        <c:axId val="111"/>
        <c:scaling>
          <c:orientation val="minMax"/>
        </c:scaling>
        <c:delete val="0"/>
        <c:axPos val="b"/>
        <c:numFmt formatCode="General" sourceLinked="0"/>
        <c:tickLblPos val="low"/>
        <c:crossAx val="112"/>
        <c:crosses val="autoZero"/>
        <c:auto val="1"/>
        <c:lblAlgn val="ctr"/>
        <c:lblOffset val="100"/>
      </c:catAx>
      <c:valAx>
        <c:axId val="112"/>
        <c:scaling>
          <c:orientation val="minMax"/>
        </c:scaling>
        <c:delete val="0"/>
        <c:axPos val="l"/>
        <c:numFmt formatCode="#,##0%" sourceLinked="0"/>
        <c:majorGridlines/>
        <c:tickLblPos val="low"/>
        <c:crossAx val="111"/>
        <c:crosses val="autoZero"/>
        <c:crossBetween val="between"/>
      </c:valAx>
    </c:plotArea>
    <c:legend>
      <c:legendPos val="r"/>
      <c:overlay val="0"/>
    </c:legend>
    <c:plotVisOnly val="1"/>
    <c:dispBlanksAs val="gap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lang="zh-CN"/>
              <a:t>3D柱</a:t>
            </a:r>
          </a:p>
        </c:rich>
      </c:tx>
      <c:overlay val="0"/>
    </c:title>
    <c:autoTitleDeleted val="0"/>
    <c:view3D>
      <c:rotX val="30"/>
      <c:rotY val="20"/>
      <c:depthPercent val="100"/>
    </c:view3D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mtCode>General</c:fmtCode>
                <c:ptCount val="4"/>
                <c:pt idx="0">
                  <c:v>10</c:v>
                </c:pt>
                <c:pt idx="1">
                  <c:v>20</c:v>
                </c:pt>
                <c:pt idx="2">
                  <c:v>15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mtCode>General</c:fmtCode>
                <c:ptCount val="4"/>
                <c:pt idx="0">
                  <c:v>15</c:v>
                </c:pt>
                <c:pt idx="1">
                  <c:v>10</c:v>
                </c:pt>
                <c:pt idx="2">
                  <c:v>20</c:v>
                </c:pt>
                <c:pt idx="3">
                  <c:v>18</c:v>
                </c:pt>
              </c:numCache>
            </c:numRef>
          </c:val>
        </c:ser>
        <c:axId val="111"/>
        <c:axId val="112"/>
        <c:axId val="113"/>
      </c:bar3DChart>
      <c:catAx>
        <c:axId val="111"/>
        <c:scaling>
          <c:orientation val="minMax"/>
        </c:scaling>
        <c:delete val="0"/>
        <c:axPos val="b"/>
        <c:numFmt formatCode="General" sourceLinked="0"/>
        <c:tickLblPos val="low"/>
        <c:crossAx val="113"/>
        <c:crosses val="autoZero"/>
        <c:auto val="1"/>
        <c:lblAlgn val="ctr"/>
        <c:lblOffset val="100"/>
      </c:catAx>
      <c:valAx>
        <c:axId val="112"/>
        <c:scaling>
          <c:orientation val="minMax"/>
        </c:scaling>
        <c:delete val="0"/>
        <c:axPos val="l"/>
        <c:numFmt formatCode="General" sourceLinked="0"/>
        <c:majorGridlines/>
        <c:tickLblPos val="low"/>
        <c:crossAx val="111"/>
        <c:crosses val="autoZero"/>
        <c:crossBetween val="between"/>
      </c:valAx>
      <c:serAx>
        <c:axId val="113"/>
        <c:scaling>
          <c:orientation val="minMax"/>
        </c:scaling>
        <c:delete val="1"/>
        <c:axPos val="b"/>
        <c:tickLblPos val="none"/>
        <c:crossAx val="111"/>
        <c:crosses val="autoZero"/>
      </c:serAx>
    </c:plotArea>
    <c:legend>
      <c:legendPos val="r"/>
      <c:overlay val="0"/>
    </c:legend>
    <c:plotVisOnly val="1"/>
    <c:dispBlanksAs val="gap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lang="zh-CN"/>
              <a:t>3D折线</a:t>
            </a:r>
          </a:p>
        </c:rich>
      </c:tx>
      <c:overlay val="0"/>
    </c:title>
    <c:autoTitleDeleted val="0"/>
    <c:view3D>
      <c:rotX val="30"/>
      <c:rotY val="20"/>
      <c:depthPercent val="100"/>
    </c:view3D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line3D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S1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mtCode>General</c:fmtCode>
                <c:ptCount val="4"/>
                <c:pt idx="0">
                  <c:v>5</c:v>
                </c:pt>
                <c:pt idx="1">
                  <c:v>15</c:v>
                </c:pt>
                <c:pt idx="2">
                  <c:v>10</c:v>
                </c:pt>
                <c:pt idx="3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S2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</c:strCache>
            </c:strRef>
          </c:cat>
          <c:val>
            <c:numRef>
              <c:f>Sheet1!$B$2:$B$5</c:f>
              <c:numCache>
                <c:fmtCode>General</c:fmtCode>
                <c:ptCount val="4"/>
                <c:pt idx="0">
                  <c:v>10</c:v>
                </c:pt>
                <c:pt idx="1">
                  <c:v>8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axId val="111"/>
        <c:axId val="112"/>
        <c:axId val="113"/>
      </c:line3DChart>
      <c:catAx>
        <c:axId val="111"/>
        <c:scaling>
          <c:orientation val="minMax"/>
        </c:scaling>
        <c:delete val="0"/>
        <c:axPos val="b"/>
        <c:numFmt formatCode="General" sourceLinked="0"/>
        <c:tickLblPos val="low"/>
        <c:crossAx val="113"/>
        <c:crosses val="autoZero"/>
        <c:auto val="1"/>
        <c:lblAlgn val="ctr"/>
        <c:lblOffset val="100"/>
      </c:catAx>
      <c:valAx>
        <c:axId val="112"/>
        <c:scaling>
          <c:orientation val="minMax"/>
        </c:scaling>
        <c:delete val="0"/>
        <c:axPos val="l"/>
        <c:numFmt formatCode="General" sourceLinked="0"/>
        <c:majorGridlines/>
        <c:tickLblPos val="low"/>
        <c:crossAx val="111"/>
        <c:crosses val="autoZero"/>
        <c:crossBetween val="between"/>
      </c:valAx>
      <c:serAx>
        <c:axId val="113"/>
        <c:scaling>
          <c:orientation val="minMax"/>
        </c:scaling>
        <c:delete val="1"/>
        <c:axPos val="b"/>
        <c:tickLblPos val="none"/>
        <c:crossAx val="111"/>
        <c:crosses val="autoZero"/>
      </c:serAx>
    </c:plotArea>
    <c:legend>
      <c:legendPos val="r"/>
      <c:overlay val="0"/>
    </c:legend>
    <c:plotVisOnly val="1"/>
    <c:dispBlanksAs val="gap"/>
  </c:char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lang="zh-CN"/>
              <a:t>3D面积</a:t>
            </a:r>
          </a:p>
        </c:rich>
      </c:tx>
      <c:overlay val="0"/>
    </c:title>
    <c:autoTitleDeleted val="0"/>
    <c:view3D>
      <c:rotX val="30"/>
      <c:rotY val="20"/>
      <c:depthPercent val="100"/>
    </c:view3D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area3D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前年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mtCode>General</c:fmtCode>
                <c:ptCount val="4"/>
                <c:pt idx="0">
                  <c:v>10</c:v>
                </c:pt>
                <c:pt idx="1">
                  <c:v>15</c:v>
                </c:pt>
                <c:pt idx="2">
                  <c:v>12</c:v>
                </c:pt>
                <c:pt idx="3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去年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mtCode>General</c:fmtCode>
                <c:ptCount val="4"/>
                <c:pt idx="0">
                  <c:v>15</c:v>
                </c:pt>
                <c:pt idx="1">
                  <c:v>20</c:v>
                </c:pt>
                <c:pt idx="2">
                  <c:v>18</c:v>
                </c:pt>
                <c:pt idx="3">
                  <c:v>25</c:v>
                </c:pt>
              </c:numCache>
            </c:numRef>
          </c:val>
        </c:ser>
        <c:axId val="111"/>
        <c:axId val="112"/>
        <c:axId val="113"/>
      </c:area3DChart>
      <c:catAx>
        <c:axId val="111"/>
        <c:scaling>
          <c:orientation val="minMax"/>
        </c:scaling>
        <c:delete val="0"/>
        <c:axPos val="b"/>
        <c:numFmt formatCode="General" sourceLinked="0"/>
        <c:tickLblPos val="low"/>
        <c:crossAx val="113"/>
        <c:crosses val="autoZero"/>
        <c:auto val="1"/>
        <c:lblAlgn val="ctr"/>
        <c:lblOffset val="100"/>
      </c:catAx>
      <c:valAx>
        <c:axId val="112"/>
        <c:scaling>
          <c:orientation val="minMax"/>
        </c:scaling>
        <c:delete val="0"/>
        <c:axPos val="l"/>
        <c:numFmt formatCode="General" sourceLinked="0"/>
        <c:majorGridlines/>
        <c:tickLblPos val="low"/>
        <c:crossAx val="111"/>
        <c:crosses val="autoZero"/>
        <c:crossBetween val="between"/>
      </c:valAx>
      <c:serAx>
        <c:axId val="113"/>
        <c:scaling>
          <c:orientation val="minMax"/>
        </c:scaling>
        <c:delete val="1"/>
        <c:axPos val="b"/>
        <c:tickLblPos val="none"/>
        <c:crossAx val="111"/>
        <c:crosses val="autoZero"/>
      </c:serAx>
    </c:plotArea>
    <c:legend>
      <c:legendPos val="r"/>
      <c:overlay val="0"/>
    </c:legend>
    <c:plotVisOnly val="1"/>
    <c:dispBlanksAs val="gap"/>
  </c:char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lang="zh-CN"/>
              <a:t>3D饼图（varyColors）</a:t>
            </a:r>
          </a:p>
        </c:rich>
      </c:tx>
      <c:overlay val="0"/>
    </c:title>
    <c:autoTitleDeleted val="0"/>
    <c:view3D>
      <c:rotX val="30"/>
      <c:rotY val="20"/>
      <c:depthPercent val="100"/>
    </c:view3D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pie3D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mtCode>General</c:fm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</c:pie3DChart>
    </c:plotArea>
    <c:legend>
      <c:legendPos val="b"/>
      <c:overlay val="0"/>
    </c:legend>
    <c:plotVisOnly val="1"/>
    <c:dispBlanksAs val="gap"/>
  </c:char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lang="zh-CN"/>
              <a:t>3D曲面（wireframe）</a:t>
            </a:r>
          </a:p>
        </c:rich>
      </c:tx>
      <c:overlay val="0"/>
    </c:title>
    <c:autoTitleDeleted val="0"/>
    <c:view3D>
      <c:rotX val="30"/>
      <c:rotY val="20"/>
      <c:depthPercent val="100"/>
    </c:view3D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surface3DChart>
        <c:wireframe val="1"/>
        <c:ser>
          <c:idx val="0"/>
          <c:order val="0"/>
          <c:tx>
            <c:strRef>
              <c:f>Sheet1!$A$1</c:f>
              <c:strCache>
                <c:ptCount val="1"/>
                <c:pt idx="0">
                  <c:v>Y1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X1</c:v>
                </c:pt>
                <c:pt idx="1">
                  <c:v>X2</c:v>
                </c:pt>
                <c:pt idx="2">
                  <c:v>X3</c:v>
                </c:pt>
              </c:strCache>
            </c:strRef>
          </c:cat>
          <c:val>
            <c:numRef>
              <c:f>Sheet1!$B$2:$B$4</c:f>
              <c:numCache>
                <c:fmtCode>General</c:fm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Y2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X1</c:v>
                </c:pt>
                <c:pt idx="1">
                  <c:v>X2</c:v>
                </c:pt>
                <c:pt idx="2">
                  <c:v>X3</c:v>
                </c:pt>
              </c:strCache>
            </c:strRef>
          </c:cat>
          <c:val>
            <c:numRef>
              <c:f>Sheet1!$B$2:$B$4</c:f>
              <c:numCache>
                <c:fmtCode>General</c:fmtCode>
                <c:ptCount val="3"/>
                <c:pt idx="0">
                  <c:v>2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Sheet1!$A$1</c:f>
              <c:strCache>
                <c:ptCount val="1"/>
                <c:pt idx="0">
                  <c:v>Y3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X1</c:v>
                </c:pt>
                <c:pt idx="1">
                  <c:v>X2</c:v>
                </c:pt>
                <c:pt idx="2">
                  <c:v>X3</c:v>
                </c:pt>
              </c:strCache>
            </c:strRef>
          </c:cat>
          <c:val>
            <c:numRef>
              <c:f>Sheet1!$B$2:$B$4</c:f>
              <c:numCache>
                <c:fmtCode>General</c:fmtCode>
                <c:ptCount val="3"/>
                <c:pt idx="0">
                  <c:v>3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</c:ser>
        <c:bandFmts/>
        <c:axId val="111"/>
        <c:axId val="112"/>
        <c:axId val="113"/>
      </c:surface3DChart>
      <c:catAx>
        <c:axId val="111"/>
        <c:scaling>
          <c:orientation val="minMax"/>
        </c:scaling>
        <c:delete val="0"/>
        <c:axPos val="b"/>
        <c:numFmt formatCode="General" sourceLinked="0"/>
        <c:tickLblPos val="low"/>
        <c:crossAx val="113"/>
        <c:crosses val="autoZero"/>
        <c:auto val="1"/>
        <c:lblAlgn val="ctr"/>
        <c:lblOffset val="100"/>
      </c:catAx>
      <c:valAx>
        <c:axId val="112"/>
        <c:scaling>
          <c:orientation val="minMax"/>
        </c:scaling>
        <c:delete val="0"/>
        <c:axPos val="l"/>
        <c:numFmt formatCode="General" sourceLinked="0"/>
        <c:majorGridlines/>
        <c:tickLblPos val="low"/>
        <c:crossAx val="111"/>
        <c:crosses val="autoZero"/>
        <c:crossBetween val="between"/>
      </c:valAx>
      <c:serAx>
        <c:axId val="113"/>
        <c:scaling>
          <c:orientation val="minMax"/>
        </c:scaling>
        <c:delete val="1"/>
        <c:axPos val="b"/>
        <c:tickLblPos val="none"/>
        <c:crossAx val="111"/>
        <c:crosses val="autoZero"/>
      </c:serAx>
    </c:plotArea>
    <c:legend>
      <c:legendPos val="r"/>
      <c:overlay val="0"/>
    </c:legend>
    <c:plotVisOnly val="1"/>
    <c:dispBlanksAs val="gap"/>
  </c:char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lang="zh-CN"/>
              <a:t>3D横向柱（barDir=bar）</a:t>
            </a:r>
          </a:p>
        </c:rich>
      </c:tx>
      <c:overlay val="0"/>
    </c:title>
    <c:autoTitleDeleted val="0"/>
    <c:view3D>
      <c:rotX val="30"/>
      <c:rotY val="20"/>
      <c:depthPercent val="100"/>
    </c:view3D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S1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mtCode>General</c:fm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</c:ser>
        <c:axId val="111"/>
        <c:axId val="112"/>
        <c:axId val="113"/>
      </c:bar3DChart>
      <c:catAx>
        <c:axId val="111"/>
        <c:scaling>
          <c:orientation val="minMax"/>
        </c:scaling>
        <c:delete val="0"/>
        <c:axPos val="b"/>
        <c:numFmt formatCode="General" sourceLinked="0"/>
        <c:tickLblPos val="low"/>
        <c:crossAx val="113"/>
        <c:crosses val="autoZero"/>
        <c:auto val="1"/>
        <c:lblAlgn val="ctr"/>
        <c:lblOffset val="100"/>
      </c:catAx>
      <c:valAx>
        <c:axId val="112"/>
        <c:scaling>
          <c:orientation val="minMax"/>
        </c:scaling>
        <c:delete val="0"/>
        <c:axPos val="l"/>
        <c:numFmt formatCode="General" sourceLinked="0"/>
        <c:majorGridlines/>
        <c:tickLblPos val="low"/>
        <c:crossAx val="111"/>
        <c:crosses val="autoZero"/>
        <c:crossBetween val="between"/>
      </c:valAx>
      <c:serAx>
        <c:axId val="113"/>
        <c:scaling>
          <c:orientation val="minMax"/>
        </c:scaling>
        <c:delete val="1"/>
        <c:axPos val="b"/>
        <c:tickLblPos val="none"/>
        <c:crossAx val="111"/>
        <c:crosses val="autoZero"/>
      </c:serAx>
    </c:plotArea>
    <c:legend>
      <c:legendPos val="r"/>
      <c:overlay val="0"/>
    </c:legend>
    <c:plotVisOnly val="1"/>
    <c:dispBlanksAs val="gap"/>
  </c:char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lang="zh-CN"/>
              <a:t>环图（holeSize=30）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doughnut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mtCode>General</c:fmtCode>
                <c:ptCount val="4"/>
                <c:pt idx="0">
                  <c:v>40</c:v>
                </c:pt>
                <c:pt idx="1">
                  <c:v>35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showVal val="1"/>
          <c:showPercent val="0"/>
          <c:showSer val="0"/>
          <c:showCatName val="0"/>
        </c:dLbls>
        <c:holeSize val="30"/>
      </c:doughnutChart>
    </c:plotArea>
    <c:legend>
      <c:legendPos val="b"/>
      <c:overlay val="0"/>
    </c:legend>
    <c:plotVisOnly val="1"/>
    <c:dispBlanksAs val="gap"/>
  </c:char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lang="zh-CN"/>
              <a:t>子母饼（ofPieType=bar）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ofPieChart>
        <c:ofPieType val="bar"/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主1</c:v>
                </c:pt>
                <c:pt idx="1">
                  <c:v>主2</c:v>
                </c:pt>
                <c:pt idx="2">
                  <c:v>主3</c:v>
                </c:pt>
                <c:pt idx="3">
                  <c:v>子1</c:v>
                </c:pt>
                <c:pt idx="4">
                  <c:v>子2</c:v>
                </c:pt>
              </c:strCache>
            </c:strRef>
          </c:cat>
          <c:val>
            <c:numRef>
              <c:f>Sheet1!$B$2:$B$6</c:f>
              <c:numCache>
                <c:fmtCode>General</c:fm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gapWidth val="100"/>
        <c:splitType val="auto"/>
        <c:splitPos val="0"/>
        <c:secondPieSize val="75"/>
        <c:serLines/>
      </c:ofPieChart>
    </c:plotArea>
    <c:legend>
      <c:legendPos val="b"/>
      <c:overlay val="0"/>
    </c:legend>
    <c:plotVisOnly val="1"/>
    <c:dispBlanksAs val="gap"/>
  </c:char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lang="zh-CN"/>
              <a:t>气泡（bubble3D+scale=150）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ubbleChart>
        <c:ser>
          <c:idx val="0"/>
          <c:order val="0"/>
          <c:tx>
            <c:strRef>
              <c:f>Sheet1!$A$1</c:f>
              <c:strCache>
                <c:ptCount val="1"/>
                <c:pt idx="0">
                  <c:v>b</c:v>
                </c:pt>
              </c:strCache>
            </c:strRef>
          </c:tx>
          <c:xVal>
            <c:numRef>
              <c:f>Sheet1!$B$2:$B$5</c:f>
              <c:numCache>
                <c:fmtCode>General</c:fm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Sheet1!$C$2:$C$5</c:f>
              <c:numCache>
                <c:fmtCode>General</c:fmtCode>
                <c:ptCount val="4"/>
                <c:pt idx="0">
                  <c:v>2</c:v>
                </c:pt>
                <c:pt idx="1">
                  <c:v>3</c:v>
                </c:pt>
                <c:pt idx="2">
                  <c:v>1</c:v>
                </c:pt>
                <c:pt idx="3">
                  <c:v>5</c:v>
                </c:pt>
              </c:numCache>
            </c:numRef>
          </c:yVal>
          <c:bubbleSize>
            <c:numRef>
              <c:f>Sheet1!$D$2:$D$5</c:f>
              <c:numCache>
                <c:fmtCode>General</c:fmtCode>
                <c:ptCount val="4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6</c:v>
                </c:pt>
              </c:numCache>
            </c:numRef>
          </c:bubbleSize>
        </c:ser>
        <c:bubble3D val="1"/>
        <c:bubbleScale val="150"/>
        <c:axId val="111"/>
        <c:axId val="112"/>
      </c:bubbleChart>
      <c:valAx>
        <c:axId val="111"/>
        <c:scaling>
          <c:orientation val="minMax"/>
        </c:scaling>
        <c:delete val="0"/>
        <c:axPos val="b"/>
        <c:numFmt formatCode="General" sourceLinked="0"/>
        <c:majorGridlines/>
        <c:tickLblPos val="low"/>
        <c:crossAx val="112"/>
        <c:crosses val="autoZero"/>
      </c:valAx>
      <c:valAx>
        <c:axId val="112"/>
        <c:scaling>
          <c:orientation val="minMax"/>
        </c:scaling>
        <c:delete val="0"/>
        <c:axPos val="l"/>
        <c:numFmt formatCode="General" sourceLinked="0"/>
        <c:majorGridlines/>
        <c:tickLblPos val="low"/>
        <c:crossAx val="111"/>
        <c:crosses val="autoZero"/>
        <c:crossBetween val="between"/>
      </c:valAx>
    </c:plotArea>
    <c:legend>
      <c:legendPos val="r"/>
      <c:overlay val="0"/>
    </c:legend>
    <c:plotVisOnly val="1"/>
    <c:dispBlanksAs val="gap"/>
  </c:char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lang="zh-CN"/>
              <a:t>雷达（多系列+标签）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radarChart>
        <c:radarStyle val="standard"/>
        <c:ser>
          <c:idx val="0"/>
          <c:order val="0"/>
          <c:tx>
            <c:strRef>
              <c:f>Sheet1!$A$1</c:f>
              <c:strCache>
                <c:ptCount val="1"/>
                <c:pt idx="0">
                  <c:v>选手A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速度</c:v>
                </c:pt>
                <c:pt idx="1">
                  <c:v>力量</c:v>
                </c:pt>
                <c:pt idx="2">
                  <c:v>技巧</c:v>
                </c:pt>
                <c:pt idx="3">
                  <c:v>耐力</c:v>
                </c:pt>
              </c:strCache>
            </c:strRef>
          </c:cat>
          <c:val>
            <c:numRef>
              <c:f>Sheet1!$B$2:$B$5</c:f>
              <c:numCache>
                <c:fmtCode>General</c:fmtCode>
                <c:ptCount val="4"/>
                <c:pt idx="0">
                  <c:v>80</c:v>
                </c:pt>
                <c:pt idx="1">
                  <c:v>70</c:v>
                </c:pt>
                <c:pt idx="2">
                  <c:v>90</c:v>
                </c:pt>
                <c:pt idx="3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选手B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速度</c:v>
                </c:pt>
                <c:pt idx="1">
                  <c:v>力量</c:v>
                </c:pt>
                <c:pt idx="2">
                  <c:v>技巧</c:v>
                </c:pt>
                <c:pt idx="3">
                  <c:v>耐力</c:v>
                </c:pt>
              </c:strCache>
            </c:strRef>
          </c:cat>
          <c:val>
            <c:numRef>
              <c:f>Sheet1!$B$2:$B$5</c:f>
              <c:numCache>
                <c:fmtCode>General</c:fmtCode>
                <c:ptCount val="4"/>
                <c:pt idx="0">
                  <c:v>60</c:v>
                </c:pt>
                <c:pt idx="1">
                  <c:v>90</c:v>
                </c:pt>
                <c:pt idx="2">
                  <c:v>70</c:v>
                </c:pt>
                <c:pt idx="3">
                  <c:v>80</c:v>
                </c:pt>
              </c:numCache>
            </c:numRef>
          </c:val>
        </c:ser>
        <c:dLbls>
          <c:showVal val="1"/>
          <c:showPercent val="0"/>
          <c:showSer val="0"/>
          <c:showCatName val="0"/>
        </c:dLbls>
        <c:axId val="111"/>
        <c:axId val="112"/>
      </c:radarChart>
      <c:catAx>
        <c:axId val="111"/>
        <c:scaling>
          <c:orientation val="minMax"/>
        </c:scaling>
        <c:delete val="0"/>
        <c:axPos val="b"/>
        <c:numFmt formatCode="General" sourceLinked="0"/>
        <c:tickLblPos val="low"/>
        <c:crossAx val="112"/>
        <c:crosses val="autoZero"/>
        <c:auto val="1"/>
        <c:lblAlgn val="ctr"/>
        <c:lblOffset val="100"/>
      </c:catAx>
      <c:valAx>
        <c:axId val="112"/>
        <c:scaling>
          <c:orientation val="minMax"/>
        </c:scaling>
        <c:delete val="0"/>
        <c:axPos val="l"/>
        <c:numFmt formatCode="General" sourceLinked="0"/>
        <c:majorGridlines/>
        <c:tickLblPos val="low"/>
        <c:crossAx val="111"/>
        <c:crosses val="autoZero"/>
        <c:crossBetween val="between"/>
      </c:valAx>
    </c:plotArea>
    <c:legend>
      <c:legendPos val="r"/>
      <c:overlay val="0"/>
    </c:legend>
    <c:plotVisOnly val="1"/>
    <c:dispBlanksAs val="gap"/>
  </c:char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lang="zh-CN"/>
              <a:t>股票（K线）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stockChart>
        <c:ser>
          <c:idx val="0"/>
          <c:order val="0"/>
          <c:tx>
            <c:strRef>
              <c:f>Sheet1!$A$1</c:f>
              <c:strCache>
                <c:ptCount val="1"/>
                <c:pt idx="0">
                  <c:v>OHLC</c:v>
                </c:pt>
              </c:strCache>
            </c:strRef>
          </c:tx>
          <c:openVal>
            <c:numRef>
              <c:f>Sheet1!$B$2:$B$5</c:f>
              <c:numCache>
                <c:fmtCode>General</c:fmtCode>
                <c:ptCount val="4"/>
                <c:pt idx="0">
                  <c:v>10</c:v>
                </c:pt>
                <c:pt idx="1">
                  <c:v>12</c:v>
                </c:pt>
                <c:pt idx="2">
                  <c:v>11</c:v>
                </c:pt>
                <c:pt idx="3">
                  <c:v>13</c:v>
                </c:pt>
              </c:numCache>
            </c:numRef>
          </c:openVal>
          <c:highVal>
            <c:numRef>
              <c:f>Sheet1!$C$2:$C$5</c:f>
              <c:numCache>
                <c:fmtCode>General</c:fmtCode>
                <c:ptCount val="4"/>
                <c:pt idx="0">
                  <c:v>15</c:v>
                </c:pt>
                <c:pt idx="1">
                  <c:v>16</c:v>
                </c:pt>
                <c:pt idx="2">
                  <c:v>14</c:v>
                </c:pt>
                <c:pt idx="3">
                  <c:v>17</c:v>
                </c:pt>
              </c:numCache>
            </c:numRef>
          </c:highVal>
          <c:lowVal>
            <c:numRef>
              <c:f>Sheet1!$D$2:$D$5</c:f>
              <c:numCache>
                <c:fmtCode>General</c:fmtCode>
                <c:ptCount val="4"/>
                <c:pt idx="0">
                  <c:v>8</c:v>
                </c:pt>
                <c:pt idx="1">
                  <c:v>10</c:v>
                </c:pt>
                <c:pt idx="2">
                  <c:v>9</c:v>
                </c:pt>
                <c:pt idx="3">
                  <c:v>11</c:v>
                </c:pt>
              </c:numCache>
            </c:numRef>
          </c:lowVal>
          <c:closeVal>
            <c:numRef>
              <c:f>Sheet1!$E$2:$E$5</c:f>
              <c:numCache>
                <c:fmtCode>General</c:fmtCode>
                <c:ptCount val="4"/>
                <c:pt idx="0">
                  <c:v>12</c:v>
                </c:pt>
                <c:pt idx="1">
                  <c:v>11</c:v>
                </c:pt>
                <c:pt idx="2">
                  <c:v>13</c:v>
                </c:pt>
                <c:pt idx="3">
                  <c:v>15</c:v>
                </c:pt>
              </c:numCache>
            </c:numRef>
          </c:closeVal>
        </c:ser>
        <c:hiLowLines/>
        <c:axId val="111"/>
        <c:axId val="112"/>
      </c:stockChart>
      <c:catAx>
        <c:axId val="111"/>
        <c:scaling>
          <c:orientation val="minMax"/>
        </c:scaling>
        <c:delete val="0"/>
        <c:axPos val="b"/>
        <c:numFmt formatCode="General" sourceLinked="0"/>
        <c:tickLblPos val="low"/>
        <c:crossAx val="112"/>
        <c:crosses val="autoZero"/>
        <c:auto val="1"/>
        <c:lblAlgn val="ctr"/>
        <c:lblOffset val="100"/>
      </c:catAx>
      <c:valAx>
        <c:axId val="112"/>
        <c:scaling>
          <c:orientation val="minMax"/>
        </c:scaling>
        <c:delete val="0"/>
        <c:axPos val="l"/>
        <c:numFmt formatCode="General" sourceLinked="0"/>
        <c:majorGridlines/>
        <c:tickLblPos val="low"/>
        <c:crossAx val="111"/>
        <c:crosses val="autoZero"/>
        <c:crossBetween val="between"/>
      </c:valAx>
    </c:plotArea>
    <c:legend>
      <c:legendPos val="r"/>
      <c:overlay val="0"/>
    </c:legend>
    <c:plotVisOnly val="1"/>
    <c:dispBlanksAs val="gap"/>
  </c:chart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lang="zh-CN"/>
              <a:t>曲面（wireframe）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surfaceChart>
        <c:wireframe val="1"/>
        <c:ser>
          <c:idx val="0"/>
          <c:order val="0"/>
          <c:tx>
            <c:strRef>
              <c:f>Sheet1!$A$1</c:f>
              <c:strCache>
                <c:ptCount val="1"/>
                <c:pt idx="0">
                  <c:v>Y1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X1</c:v>
                </c:pt>
                <c:pt idx="1">
                  <c:v>X2</c:v>
                </c:pt>
                <c:pt idx="2">
                  <c:v>X3</c:v>
                </c:pt>
              </c:strCache>
            </c:strRef>
          </c:cat>
          <c:val>
            <c:numRef>
              <c:f>Sheet1!$B$2:$B$4</c:f>
              <c:numCache>
                <c:fmtCode>General</c:fm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Sheet1!$A$1</c:f>
              <c:strCache>
                <c:ptCount val="1"/>
                <c:pt idx="0">
                  <c:v>Y2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X1</c:v>
                </c:pt>
                <c:pt idx="1">
                  <c:v>X2</c:v>
                </c:pt>
                <c:pt idx="2">
                  <c:v>X3</c:v>
                </c:pt>
              </c:strCache>
            </c:strRef>
          </c:cat>
          <c:val>
            <c:numRef>
              <c:f>Sheet1!$B$2:$B$4</c:f>
              <c:numCache>
                <c:fmtCode>General</c:fmtCode>
                <c:ptCount val="3"/>
                <c:pt idx="0">
                  <c:v>2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bandFmts/>
        <c:axId val="111"/>
        <c:axId val="112"/>
        <c:axId val="113"/>
      </c:surfaceChart>
      <c:catAx>
        <c:axId val="111"/>
        <c:scaling>
          <c:orientation val="minMax"/>
        </c:scaling>
        <c:delete val="0"/>
        <c:axPos val="b"/>
        <c:numFmt formatCode="General" sourceLinked="0"/>
        <c:tickLblPos val="low"/>
        <c:crossAx val="113"/>
        <c:crosses val="autoZero"/>
        <c:auto val="1"/>
        <c:lblAlgn val="ctr"/>
        <c:lblOffset val="100"/>
      </c:catAx>
      <c:valAx>
        <c:axId val="112"/>
        <c:scaling>
          <c:orientation val="minMax"/>
        </c:scaling>
        <c:delete val="0"/>
        <c:axPos val="l"/>
        <c:numFmt formatCode="General" sourceLinked="0"/>
        <c:majorGridlines/>
        <c:tickLblPos val="low"/>
        <c:crossAx val="111"/>
        <c:crosses val="autoZero"/>
        <c:crossBetween val="between"/>
      </c:valAx>
      <c:serAx>
        <c:axId val="113"/>
        <c:scaling>
          <c:orientation val="minMax"/>
        </c:scaling>
        <c:delete val="1"/>
        <c:axPos val="b"/>
        <c:tickLblPos val="none"/>
        <c:crossAx val="111"/>
        <c:crosses val="autoZero"/>
      </c:serAx>
    </c:plotArea>
    <c:legend>
      <c:legendPos val="r"/>
      <c:overlay val="0"/>
    </c:legend>
    <c:plotVisOnly val="1"/>
    <c:dispBlanksAs val="gap"/>
  </c:chart>
</c:chartSpace>
</file>

<file path=ppt/comments/_rels/comments20.xml.rels><?xml version="1.0" encoding="UTF-8" standalone="yes"?>
<Relationships xmlns="http://schemas.openxmlformats.org/package/2006/relationships"><Relationship Id="rId1" Type="http://schemas.openxmlformats.org/officeDocument/2006/relationships/commentAuthors" Target="../commentAuthors.xml"/></Relationships>
</file>

<file path=ppt/comments/comments2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1-01T00:00:00Z" id="0">
    <p:pos x="914400" y="914400"/>
    <p:text>这是一条批注</p:text>
  </p:cm>
  <p:cm authorId="1" dt="2026-10-02T16:02:03.925Z" id="1">
    <p:pos x="914400" y="914400"/>
    <p:text>第二条批注</p:text>
  </p:cm>
</p:cmLst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diagramLayout" Target="layout1.xml"/><Relationship Id="rId2" Type="http://schemas.openxmlformats.org/officeDocument/2006/relationships/diagramColors" Target="colors1.xml"/><Relationship Id="rId3" Type="http://schemas.openxmlformats.org/officeDocument/2006/relationships/diagramQuickStyle" Target="quickStyle1.xml"/></Relationships>
</file>

<file path=ppt/diagrams/colors1.xml><?xml version="1.0" encoding="utf-8"?>
<dgm:colorsDef xmlns:dgm="http://schemas.openxmlformats.org/drawingml/2006/diagram" uniqueId="{A1B2C3D4-0000-0000-0000-000000000006}" minVer="2.0.0.0" defStyle="urn:microsoft.com/office/officeart/2005/8/diagramColors" name="hierarchy colors">
  <dgm:title val="hierarchy colors"/>
  <dgm:desc val="generated"/>
  <dgm:catLst/>
  <dgm:varLst/>
  <dgm:styleLblLst/>
  <dgm:sampRagLst/>
</dgm:colorsDef>
</file>

<file path=ppt/diagrams/data1.xml><?xml version="1.0" encoding="utf-8"?>
<dsdgm:dataModel xmlns:dsdgm="http://schemas.openxmlformats.org/drawingml/2006/diagram" xmlns:p="http://schemas.openxmlformats.org/presentationml/2006/main" xmlns:a="http://schemas.openxmlformats.org/drawingml/2006/main">
  <dsdgm:ptLst>
    <dsdgm:pt modelId="0" type="doc">
      <dsdgm:extLst/>
    </dsdgm:pt>
    <dsdgm:pt modelId="1" type="node">
      <dsdgm:prSet loColr="none" hiColr="none"/>
      <dsdgm:spPr/>
      <dsdgm:t>
        <dsdgm:str val="根"/>
      </dsdgm:t>
      <dsdgm:extLst/>
    </dsdgm:pt>
    <dsdgm:pt modelId="2" type="node">
      <dsdgm:prSet loColr="none" hiColr="none"/>
      <dsdgm:spPr/>
      <dsdgm:t>
        <dsdgm:str val="子A"/>
      </dsdgm:t>
      <dsdgm:extLst/>
    </dsdgm:pt>
    <dsdgm:pt modelId="3" type="node">
      <dsdgm:prSet loColr="none" hiColr="none"/>
      <dsdgm:spPr/>
      <dsdgm:t>
        <dsdgm:str val="子B"/>
      </dsdgm:t>
      <dsdgm:extLst/>
    </dsdgm:pt>
    <dsdgm:pt modelId="4" type="node">
      <dsdgm:prSet loColr="none" hiColr="none"/>
      <dsdgm:spPr/>
      <dsdgm:t>
        <dsdgm:str val="孙"/>
      </dsdgm:t>
      <dsdgm:extLst/>
    </dsdgm:pt>
  </dsdgm:ptLst>
  <dsdgm:cxnLst>
    <dsdgm:cxn modelId="1001" type="parOf" srcId="0" destId="1"/>
    <dsdgm:cxn modelId="1002" type="parOf" srcId="1" destId="2"/>
    <dsdgm:cxn modelId="1003" type="parOf" srcId="1" destId="3"/>
    <dsdgm:cxn modelId="1004" type="parOf" srcId="3" destId="4"/>
  </dsdgm:cxnLst>
  <p:drawing>
    <p:spTree>
      <p:nvGrpSpPr>
        <p:cNvPr id="1" name="Diagram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de1"/>
          <p:cNvSpPr/>
          <p:nvPr/>
        </p:nvSpPr>
        <p:spPr>
          <a:xfrm>
            <a:off x="0" y="0"/>
            <a:ext cx="2286000" cy="370840"/>
          </a:xfrm>
          <a:prstGeom prst="roundRect">
            <a:avLst/>
          </a:prstGeom>
          <a:solidFill>
            <a:schemeClr val="accent1"/>
          </a:solidFill>
          <a:ln>
            <a:solidFill>
              <a:schemeClr val="lt1"/>
            </a:solidFill>
          </a:ln>
        </p:spPr>
        <p:txBody>
          <a:bodyPr anchor="ctr"/>
          <a:lstStyle/>
          <a:p>
            <a:pPr algn="ctr"/>
            <a:r>
              <a:rPr lang="en-US" sz="1400" b="1">
                <a:solidFill>
                  <a:schemeClr val="lt1"/>
                </a:solidFill>
              </a:rPr>
              <a:t>根</a:t>
            </a:r>
          </a:p>
        </p:txBody>
      </p:sp>
      <p:sp>
        <p:nvSpPr>
          <p:cNvPr id="2" name="Node2"/>
          <p:cNvSpPr/>
          <p:nvPr/>
        </p:nvSpPr>
        <p:spPr>
          <a:xfrm>
            <a:off x="1280160" y="640080"/>
            <a:ext cx="2286000" cy="370840"/>
          </a:xfrm>
          <a:prstGeom prst="roundRect">
            <a:avLst/>
          </a:prstGeom>
          <a:solidFill>
            <a:schemeClr val="accent2"/>
          </a:solidFill>
          <a:ln>
            <a:solidFill>
              <a:schemeClr val="lt1"/>
            </a:solidFill>
          </a:ln>
        </p:spPr>
        <p:txBody>
          <a:bodyPr anchor="ctr"/>
          <a:lstStyle/>
          <a:p>
            <a:pPr algn="ctr"/>
            <a:r>
              <a:rPr lang="en-US" sz="1400" b="1">
                <a:solidFill>
                  <a:schemeClr val="lt1"/>
                </a:solidFill>
              </a:rPr>
              <a:t>子A</a:t>
            </a:r>
          </a:p>
        </p:txBody>
      </p:sp>
      <p:sp>
        <p:nvSpPr>
          <p:cNvPr id="3" name="Node3"/>
          <p:cNvSpPr/>
          <p:nvPr/>
        </p:nvSpPr>
        <p:spPr>
          <a:xfrm>
            <a:off x="1280160" y="1280160"/>
            <a:ext cx="2286000" cy="370840"/>
          </a:xfrm>
          <a:prstGeom prst="roundRect">
            <a:avLst/>
          </a:prstGeom>
          <a:solidFill>
            <a:schemeClr val="accent2"/>
          </a:solidFill>
          <a:ln>
            <a:solidFill>
              <a:schemeClr val="lt1"/>
            </a:solidFill>
          </a:ln>
        </p:spPr>
        <p:txBody>
          <a:bodyPr anchor="ctr"/>
          <a:lstStyle/>
          <a:p>
            <a:pPr algn="ctr"/>
            <a:r>
              <a:rPr lang="en-US" sz="1400" b="1">
                <a:solidFill>
                  <a:schemeClr val="lt1"/>
                </a:solidFill>
              </a:rPr>
              <a:t>子B</a:t>
            </a:r>
          </a:p>
        </p:txBody>
      </p:sp>
      <p:sp>
        <p:nvSpPr>
          <p:cNvPr id="4" name="Node4"/>
          <p:cNvSpPr/>
          <p:nvPr/>
        </p:nvSpPr>
        <p:spPr>
          <a:xfrm>
            <a:off x="2560320" y="1920240"/>
            <a:ext cx="2286000" cy="370840"/>
          </a:xfrm>
          <a:prstGeom prst="roundRect">
            <a:avLst/>
          </a:prstGeom>
          <a:solidFill>
            <a:schemeClr val="accent3"/>
          </a:solidFill>
          <a:ln>
            <a:solidFill>
              <a:schemeClr val="lt1"/>
            </a:solidFill>
          </a:ln>
        </p:spPr>
        <p:txBody>
          <a:bodyPr anchor="ctr"/>
          <a:lstStyle/>
          <a:p>
            <a:pPr algn="ctr"/>
            <a:r>
              <a:rPr lang="en-US" sz="1400" b="1">
                <a:solidFill>
                  <a:schemeClr val="lt1"/>
                </a:solidFill>
              </a:rPr>
              <a:t>孙</a:t>
            </a:r>
          </a:p>
        </p:txBody>
      </p:sp>
    </p:spTree>
  </p:drawing>
</dsdgm:dataModel>
</file>

<file path=ppt/diagrams/drawing1.xml><?xml version="1.0" encoding="utf-8"?>
<dsp:drawing xmlns:dsp="http://schemas.microsoft.com/office/drawing/2008/diagram" xmlns:a="http://schemas.openxmlformats.org/drawingml/2006/main" xmlns:r="http://schemas.openxmlformats.org/officeDocument/2006/relationships">
  <dsp:spTree>
    <dsp:nvGrpSpPr>
      <dsp:cNvPr id="1" name="Diagram"/>
      <dsp:cNvGrpSpPr/>
      <dsp:nvPr/>
    </dsp:nvGrpSpPr>
    <dsp:grpSpPr>
      <a:xfrm>
        <a:off x="0" y="0"/>
        <a:ext cx="7810500" cy="3810000"/>
        <a:chOff x="0" y="0"/>
        <a:chExt cx="7810500" cy="3810000"/>
      </a:xfrm>
    </dsp:grpSpPr>
    <dsp:sp modelId="{A1B2C3D4-0000-0000-0000-000000000065}">
      <dsp:nvSpPr>
        <dsp:cNvPr id="2" name="Node 2"/>
        <dsp:cNvSpPr/>
      </dsp:nvSpPr>
      <dsp:spPr bwMode="auto">
        <a:xfrm>
          <a:off x="2889885" y="177800"/>
          <a:ext cx="2030730" cy="914400"/>
        </a:xfrm>
        <a:prstGeom prst="roundRect">
          <a:avLst/>
        </a:prstGeom>
        <a:solidFill>
          <a:schemeClr val="accent1"/>
        </a:solidFill>
        <a:ln>
          <a:solidFill>
            <a:schemeClr val="lt1"/>
          </a:solidFill>
        </a:ln>
      </dsp:spPr>
      <dsp:txBody>
        <a:bodyPr anchor="ctr"/>
        <a:lstStyle/>
        <a:p>
          <a:pPr algn="ctr"/>
          <a:r>
            <a:rPr lang="en-US" sz="1200" b="1">
              <a:solidFill>
                <a:schemeClr val="lt1"/>
              </a:solidFill>
            </a:rPr>
            <a:t>根</a:t>
          </a:r>
        </a:p>
      </dsp:txBody>
    </dsp:sp>
    <dsp:sp modelId="{A1B2C3D4-0000-0000-0000-000000000066}">
      <dsp:nvSpPr>
        <dsp:cNvPr id="3" name="Node 3"/>
        <dsp:cNvSpPr/>
      </dsp:nvSpPr>
      <dsp:spPr bwMode="auto">
        <a:xfrm>
          <a:off x="937260" y="1447800"/>
          <a:ext cx="2030730" cy="914400"/>
        </a:xfrm>
        <a:prstGeom prst="roundRect">
          <a:avLst/>
        </a:prstGeom>
        <a:solidFill>
          <a:schemeClr val="accent2"/>
        </a:solidFill>
        <a:ln>
          <a:solidFill>
            <a:schemeClr val="lt1"/>
          </a:solidFill>
        </a:ln>
      </dsp:spPr>
      <dsp:txBody>
        <a:bodyPr anchor="ctr"/>
        <a:lstStyle/>
        <a:p>
          <a:pPr algn="ctr"/>
          <a:r>
            <a:rPr lang="en-US" sz="1200" b="1">
              <a:solidFill>
                <a:schemeClr val="lt1"/>
              </a:solidFill>
            </a:rPr>
            <a:t>子A</a:t>
          </a:r>
        </a:p>
      </dsp:txBody>
    </dsp:sp>
    <dsp:sp modelId="{A1B2C3D4-0000-0000-0000-000000000067}">
      <dsp:nvSpPr>
        <dsp:cNvPr id="4" name="Node 4"/>
        <dsp:cNvSpPr/>
      </dsp:nvSpPr>
      <dsp:spPr bwMode="auto">
        <a:xfrm>
          <a:off x="4842510" y="1447800"/>
          <a:ext cx="2030730" cy="914400"/>
        </a:xfrm>
        <a:prstGeom prst="roundRect">
          <a:avLst/>
        </a:prstGeom>
        <a:solidFill>
          <a:schemeClr val="accent2"/>
        </a:solidFill>
        <a:ln>
          <a:solidFill>
            <a:schemeClr val="lt1"/>
          </a:solidFill>
        </a:ln>
      </dsp:spPr>
      <dsp:txBody>
        <a:bodyPr anchor="ctr"/>
        <a:lstStyle/>
        <a:p>
          <a:pPr algn="ctr"/>
          <a:r>
            <a:rPr lang="en-US" sz="1200" b="1">
              <a:solidFill>
                <a:schemeClr val="lt1"/>
              </a:solidFill>
            </a:rPr>
            <a:t>子B</a:t>
          </a:r>
        </a:p>
      </dsp:txBody>
    </dsp:sp>
    <dsp:sp modelId="{A1B2C3D4-0000-0000-0000-000000000068}">
      <dsp:nvSpPr>
        <dsp:cNvPr id="5" name="Node 5"/>
        <dsp:cNvSpPr/>
      </dsp:nvSpPr>
      <dsp:spPr bwMode="auto">
        <a:xfrm>
          <a:off x="4842510" y="2717800"/>
          <a:ext cx="2030730" cy="914400"/>
        </a:xfrm>
        <a:prstGeom prst="roundRect">
          <a:avLst/>
        </a:prstGeom>
        <a:solidFill>
          <a:schemeClr val="accent3"/>
        </a:solidFill>
        <a:ln>
          <a:solidFill>
            <a:schemeClr val="lt1"/>
          </a:solidFill>
        </a:ln>
      </dsp:spPr>
      <dsp:txBody>
        <a:bodyPr anchor="ctr"/>
        <a:lstStyle/>
        <a:p>
          <a:pPr algn="ctr"/>
          <a:r>
            <a:rPr lang="en-US" sz="1200" b="1">
              <a:solidFill>
                <a:schemeClr val="lt1"/>
              </a:solidFill>
            </a:rPr>
            <a:t>孙</a:t>
          </a:r>
        </a:p>
      </dsp:txBody>
    </dsp:sp>
    <dsp:cxnSp modelId="{A1B2C3D4-0000-0000-0000-000000000069}">
      <dsp:nvCxnSpPr>
        <dsp:cNvPr id="6" name="Connector 6"/>
        <dsp:cNvCxnSpPr>
          <a:stCxn id="0" idx="0"/>
          <a:endCxn id="0" idx="0"/>
        </dsp:cNvCxnSpPr>
        <dsp:nvPr/>
      </dsp:nvCxnSpPr>
      <dsp:spPr bwMode="auto">
        <a:xfrm>
          <a:off x="3905250" y="1092200"/>
          <a:ext cx="0" cy="177800"/>
        </a:xfrm>
        <a:prstGeom prst="straightConnector1">
          <a:avLst/>
        </a:prstGeom>
        <a:ln w="19050">
          <a:solidFill>
            <a:schemeClr val="accent1"/>
          </a:solidFill>
        </a:ln>
      </dsp:spPr>
    </dsp:cxnSp>
    <dsp:cxnSp modelId="{A1B2C3D4-0000-0000-0000-00000000006a}">
      <dsp:nvCxnSpPr>
        <dsp:cNvPr id="7" name="Connector 7"/>
        <dsp:cNvCxnSpPr>
          <a:stCxn id="0" idx="0"/>
          <a:endCxn id="0" idx="0"/>
        </dsp:cNvCxnSpPr>
        <dsp:nvPr/>
      </dsp:nvCxnSpPr>
      <dsp:spPr bwMode="auto">
        <a:xfrm>
          <a:off x="1952625" y="1270000"/>
          <a:ext cx="1952625" cy="0"/>
        </a:xfrm>
        <a:prstGeom prst="straightConnector1">
          <a:avLst/>
        </a:prstGeom>
        <a:ln w="19050">
          <a:solidFill>
            <a:schemeClr val="accent1"/>
          </a:solidFill>
        </a:ln>
      </dsp:spPr>
    </dsp:cxnSp>
    <dsp:cxnSp modelId="{A1B2C3D4-0000-0000-0000-00000000006b}">
      <dsp:nvCxnSpPr>
        <dsp:cNvPr id="8" name="Connector 8"/>
        <dsp:cNvCxnSpPr>
          <a:stCxn id="0" idx="0"/>
          <a:endCxn id="0" idx="0"/>
        </dsp:cNvCxnSpPr>
        <dsp:nvPr/>
      </dsp:nvCxnSpPr>
      <dsp:spPr bwMode="auto">
        <a:xfrm>
          <a:off x="1952625" y="1270000"/>
          <a:ext cx="0" cy="177800"/>
        </a:xfrm>
        <a:prstGeom prst="straightConnector1">
          <a:avLst/>
        </a:prstGeom>
        <a:ln w="19050">
          <a:solidFill>
            <a:schemeClr val="accent1"/>
          </a:solidFill>
        </a:ln>
      </dsp:spPr>
    </dsp:cxnSp>
    <dsp:cxnSp modelId="{A1B2C3D4-0000-0000-0000-00000000006c}">
      <dsp:nvCxnSpPr>
        <dsp:cNvPr id="9" name="Connector 9"/>
        <dsp:cNvCxnSpPr>
          <a:stCxn id="0" idx="0"/>
          <a:endCxn id="0" idx="0"/>
        </dsp:cNvCxnSpPr>
        <dsp:nvPr/>
      </dsp:nvCxnSpPr>
      <dsp:spPr bwMode="auto">
        <a:xfrm>
          <a:off x="3905250" y="1092200"/>
          <a:ext cx="0" cy="177800"/>
        </a:xfrm>
        <a:prstGeom prst="straightConnector1">
          <a:avLst/>
        </a:prstGeom>
        <a:ln w="19050">
          <a:solidFill>
            <a:schemeClr val="accent1"/>
          </a:solidFill>
        </a:ln>
      </dsp:spPr>
    </dsp:cxnSp>
    <dsp:cxnSp modelId="{A1B2C3D4-0000-0000-0000-00000000006d}">
      <dsp:nvCxnSpPr>
        <dsp:cNvPr id="10" name="Connector 10"/>
        <dsp:cNvCxnSpPr>
          <a:stCxn id="0" idx="0"/>
          <a:endCxn id="0" idx="0"/>
        </dsp:cNvCxnSpPr>
        <dsp:nvPr/>
      </dsp:nvCxnSpPr>
      <dsp:spPr bwMode="auto">
        <a:xfrm>
          <a:off x="3905250" y="1270000"/>
          <a:ext cx="1952625" cy="0"/>
        </a:xfrm>
        <a:prstGeom prst="straightConnector1">
          <a:avLst/>
        </a:prstGeom>
        <a:ln w="19050">
          <a:solidFill>
            <a:schemeClr val="accent1"/>
          </a:solidFill>
        </a:ln>
      </dsp:spPr>
    </dsp:cxnSp>
    <dsp:cxnSp modelId="{A1B2C3D4-0000-0000-0000-00000000006e}">
      <dsp:nvCxnSpPr>
        <dsp:cNvPr id="11" name="Connector 11"/>
        <dsp:cNvCxnSpPr>
          <a:stCxn id="0" idx="0"/>
          <a:endCxn id="0" idx="0"/>
        </dsp:cNvCxnSpPr>
        <dsp:nvPr/>
      </dsp:nvCxnSpPr>
      <dsp:spPr bwMode="auto">
        <a:xfrm>
          <a:off x="5857875" y="1270000"/>
          <a:ext cx="0" cy="177800"/>
        </a:xfrm>
        <a:prstGeom prst="straightConnector1">
          <a:avLst/>
        </a:prstGeom>
        <a:ln w="19050">
          <a:solidFill>
            <a:schemeClr val="accent1"/>
          </a:solidFill>
        </a:ln>
      </dsp:spPr>
    </dsp:cxnSp>
    <dsp:cxnSp modelId="{A1B2C3D4-0000-0000-0000-00000000006f}">
      <dsp:nvCxnSpPr>
        <dsp:cNvPr id="12" name="Connector 12"/>
        <dsp:cNvCxnSpPr>
          <a:stCxn id="0" idx="0"/>
          <a:endCxn id="0" idx="0"/>
        </dsp:cNvCxnSpPr>
        <dsp:nvPr/>
      </dsp:nvCxnSpPr>
      <dsp:spPr bwMode="auto">
        <a:xfrm>
          <a:off x="5857875" y="2362200"/>
          <a:ext cx="0" cy="177800"/>
        </a:xfrm>
        <a:prstGeom prst="straightConnector1">
          <a:avLst/>
        </a:prstGeom>
        <a:ln w="19050">
          <a:solidFill>
            <a:schemeClr val="accent1"/>
          </a:solidFill>
        </a:ln>
      </dsp:spPr>
    </dsp:cxnSp>
    <dsp:cxnSp modelId="{A1B2C3D4-0000-0000-0000-000000000070}">
      <dsp:nvCxnSpPr>
        <dsp:cNvPr id="13" name="Connector 13"/>
        <dsp:cNvCxnSpPr>
          <a:stCxn id="0" idx="0"/>
          <a:endCxn id="0" idx="0"/>
        </dsp:cNvCxnSpPr>
        <dsp:nvPr/>
      </dsp:nvCxnSpPr>
      <dsp:spPr bwMode="auto">
        <a:xfrm>
          <a:off x="5857875" y="2540000"/>
          <a:ext cx="0" cy="177800"/>
        </a:xfrm>
        <a:prstGeom prst="straightConnector1">
          <a:avLst/>
        </a:prstGeom>
        <a:ln w="19050">
          <a:solidFill>
            <a:schemeClr val="accent1"/>
          </a:solidFill>
        </a:ln>
      </dsp:spPr>
    </dsp:cxnSp>
  </dsp:spTree>
</dsp:drawing>
</file>

<file path=ppt/diagrams/layout1.xml><?xml version="1.0" encoding="utf-8"?>
<dgm:layoutDef xmlns:dgm="http://schemas.openxmlformats.org/drawingml/2006/diagram" uniqueId="{A1B2C3D4-0000-0000-0000-000000000005}" minVer="2.0.0.0" defStyle="urn:microsoft.com/office/officeart/2005/8/diagramStyle" name="hierarchy">
  <dgm:title val="hierarchy"/>
  <dgm:desc val="pptx-parser generated diagram"/>
  <dgm:catLst>
    <dgm:cat type="hier" pri="1000"/>
  </dgm:catLst>
  <dgm:styleData/>
  <dgm:adjLst/>
  <dgm:nodeLst/>
  <dgm:connLst/>
  <dgm:foreachLst/>
  <dgm:layoutNode name="ROOT" styleLbl="node">
    <dgm:alg type="hierChild"/>
    <dgm:forEach val="__NODE__" refType="begin">
      <dgm:layoutNode name="NODE" styleLbl="node">
        <dgm:alg type="tx"/>
        <dgm:shp txBox="1" type="rect"/>
        <dgm:forEach val="__CHILD__" refType="child">
          <dgm:layoutNode name="CHILD" styleLbl="node">
            <dgm:alg type="tx"/>
            <dgm:shp txBox="1" type="rect"/>
          </dgm:layoutNode>
        </dgm:forEach>
      </dgm:layoutNode>
    </dgm:forEach>
  </dgm:layoutNode>
  <dgm:qryLst/>
  <dgm:clrData/>
  <dgm:ruleLst/>
  <dgm:layoutVarLst/>
  <dgm:algLst/>
</dgm:layoutDef>
</file>

<file path=ppt/diagrams/quickStyle1.xml><?xml version="1.0" encoding="utf-8"?>
<dgm:quickStyleDef xmlns:dgm="http://schemas.openxmlformats.org/drawingml/2006/diagram" uniqueId="{A1B2C3D4-0000-0000-0000-000000000007}" minVer="2.0.0.0" defStyle="urn:microsoft.com/office/officeart/2005/8/diagramQuickStyle" name="hierarchy quick style">
  <dgm:title val="hierarchy quick style"/>
  <dgm:desc val="generated"/>
  <dgm:catLst/>
  <dgm:varLst/>
  <dgm:styleLblLst/>
</dgm:quick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5" Type="http://schemas.openxmlformats.org/officeDocument/2006/relationships/chart" Target="../charts/chart10.xml"/><Relationship Id="rId6" Type="http://schemas.openxmlformats.org/officeDocument/2006/relationships/chart" Target="../charts/chart11.xml"/><Relationship Id="rId7" Type="http://schemas.openxmlformats.org/officeDocument/2006/relationships/chart" Target="../charts/char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video" Target="../media/video7.mp4"/><Relationship Id="rId3" Type="http://schemas.openxmlformats.org/officeDocument/2006/relationships/image" Target="../media/image8.png"/><Relationship Id="rId4" Type="http://schemas.openxmlformats.org/officeDocument/2006/relationships/audio" Target="../media/audio9.m4a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Relationship Id="rId3" Type="http://schemas.openxmlformats.org/officeDocument/2006/relationships/diagramColors" Target="../diagrams/colors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microsoft.com/office/2007/relationships/diagramDrawing" Target="../diagrams/drawing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s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T1 · 表格单元格边框线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1047750"/>
          <a:ext cx="10477500" cy="2667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7000"/>
                <a:gridCol w="2667000"/>
                <a:gridCol w="2667000"/>
                <a:gridCol w="2476500"/>
              </a:tblGrid>
              <a:tr h="1333500">
                <a:tc>
                  <a:txBody>
                    <a:bodyPr wrap="square" rtlCol="0"/>
                    <a:lstStyle/>
                    <a:p>
                      <a:pPr algn="l">
                        <a:buNone/>
                      </a:pPr>
                      <a:r>
                        <a:rPr lang="zh-CN" dirty="0"/>
                        <a:t>四边粗框</a:t>
                      </a:r>
                    </a:p>
                  </a:txBody>
                  <a:tcPr anchor="t">
                    <a:lnL w="25400">
                      <a:solidFill>
                        <a:srgbClr val="EF4444"/>
                      </a:solidFill>
                    </a:lnL>
                    <a:lnR w="25400">
                      <a:solidFill>
                        <a:srgbClr val="EF4444"/>
                      </a:solidFill>
                    </a:lnR>
                    <a:lnT w="25400">
                      <a:solidFill>
                        <a:srgbClr val="EF4444"/>
                      </a:solidFill>
                    </a:lnT>
                    <a:lnB w="25400">
                      <a:solidFill>
                        <a:srgbClr val="EF4444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buNone/>
                      </a:pPr>
                      <a:r>
                        <a:rPr lang="zh-CN" dirty="0"/>
                        <a:t>上下右分边</a:t>
                      </a:r>
                    </a:p>
                  </a:txBody>
                  <a:tcPr anchor="t">
                    <a:lnR w="25400">
                      <a:solidFill>
                        <a:srgbClr val="10B981"/>
                      </a:solidFill>
                    </a:lnR>
                    <a:lnT w="25400">
                      <a:solidFill>
                        <a:srgbClr val="10B981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buNone/>
                      </a:pPr>
                      <a:r>
                        <a:rPr lang="zh-CN" dirty="0"/>
                        <a:t>左边粗</a:t>
                      </a:r>
                    </a:p>
                  </a:txBody>
                  <a:tcPr anchor="t">
                    <a:lnL w="38100">
                      <a:solidFill>
                        <a:srgbClr val="3B82F6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buNone/>
                      </a:pPr>
                      <a:r>
                        <a:rPr lang="zh-CN" dirty="0"/>
                        <a:t>无框</a:t>
                      </a: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33500">
                <a:tc>
                  <a:txBody>
                    <a:bodyPr wrap="square" rtlCol="0"/>
                    <a:lstStyle/>
                    <a:p>
                      <a:pPr algn="l">
                        <a:buNone/>
                      </a:pPr>
                      <a:r>
                        <a:rPr lang="zh-CN" dirty="0"/>
                        <a:t>细框</a:t>
                      </a:r>
                    </a:p>
                  </a:txBody>
                  <a:tcPr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buNone/>
                      </a:pPr>
                      <a:r>
                        <a:rPr lang="zh-CN" dirty="0"/>
                        <a:t>橙框</a:t>
                      </a:r>
                    </a:p>
                  </a:txBody>
                  <a:tcPr anchor="t">
                    <a:lnL w="38100">
                      <a:solidFill>
                        <a:srgbClr val="F59E0B"/>
                      </a:solidFill>
                    </a:lnL>
                    <a:lnR w="38100">
                      <a:solidFill>
                        <a:srgbClr val="F59E0B"/>
                      </a:solidFill>
                    </a:lnR>
                    <a:lnT w="38100">
                      <a:solidFill>
                        <a:srgbClr val="F59E0B"/>
                      </a:solidFill>
                    </a:lnT>
                    <a:lnB w="38100">
                      <a:solidFill>
                        <a:srgbClr val="F59E0B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buNone/>
                      </a:pPr>
                      <a:r>
                        <a:rPr lang="zh-CN" dirty="0"/>
                        <a:t>默认</a:t>
                      </a:r>
                    </a:p>
                  </a:txBody>
                  <a:tcPr anchor="t"/>
                </a:tc>
                <a:tc>
                  <a:txBody>
                    <a:bodyPr wrap="square" rtlCol="0"/>
                    <a:lstStyle/>
                    <a:p>
                      <a:pPr algn="l">
                        <a:buNone/>
                      </a:pPr>
                      <a:r>
                        <a:rPr lang="zh-CN" dirty="0"/>
                        <a:t>蓝框</a:t>
                      </a:r>
                    </a:p>
                  </a:txBody>
                  <a:tcPr anchor="t">
                    <a:lnL w="25400">
                      <a:solidFill>
                        <a:srgbClr val="2563EB"/>
                      </a:solidFill>
                    </a:lnL>
                    <a:lnR w="25400">
                      <a:solidFill>
                        <a:srgbClr val="2563EB"/>
                      </a:solidFill>
                    </a:lnR>
                    <a:lnT w="25400">
                      <a:solidFill>
                        <a:srgbClr val="2563EB"/>
                      </a:solidFill>
                    </a:lnT>
                    <a:lnB w="25400">
                      <a:solidFill>
                        <a:srgbClr val="2563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T2 · 形状渐变/透明度/阴影/发光</a:t>
            </a:r>
          </a:p>
        </p:txBody>
      </p:sp>
      <p:sp>
        <p:nvSpPr>
          <p:cNvPr id="3" name="Shape 2"/>
          <p:cNvSpPr/>
          <p:nvPr/>
        </p:nvSpPr>
        <p:spPr>
          <a:xfrm>
            <a:off x="571500" y="1143000"/>
            <a:ext cx="2286000" cy="1428750"/>
          </a:xfrm>
          <a:prstGeom prst="rect">
            <a:avLst/>
          </a:prstGeom>
          <a:gradFill>
            <a:gsLst>
              <a:gs pos="0">
                <a:srgbClr val="6366F1"/>
              </a:gs>
              <a:gs pos="100000">
                <a:srgbClr val="EC4899"/>
              </a:gs>
            </a:gsLst>
            <a:lin ang="0" scaled="1"/>
          </a:gradFill>
          <a:ln w="12700">
            <a:solidFill>
              <a:srgbClr val="111827"/>
            </a:solidFill>
          </a:ln>
        </p:spPr>
      </p:sp>
      <p:sp>
        <p:nvSpPr>
          <p:cNvPr id="4" name="Shape 3"/>
          <p:cNvSpPr/>
          <p:nvPr/>
        </p:nvSpPr>
        <p:spPr>
          <a:xfrm>
            <a:off x="3238500" y="1143000"/>
            <a:ext cx="2286000" cy="1428750"/>
          </a:xfrm>
          <a:prstGeom prst="roundRect">
            <a:avLst/>
          </a:prstGeom>
          <a:solidFill>
            <a:srgbClr val="10B981">
              <a:alpha val="60000"/>
            </a:srgbClr>
          </a:solidFill>
          <a:ln w="19050">
            <a:solidFill>
              <a:srgbClr val="047857"/>
            </a:solidFill>
          </a:ln>
        </p:spPr>
      </p:sp>
      <p:sp>
        <p:nvSpPr>
          <p:cNvPr id="5" name="Shape 4"/>
          <p:cNvSpPr/>
          <p:nvPr/>
        </p:nvSpPr>
        <p:spPr>
          <a:xfrm>
            <a:off x="5905500" y="1143000"/>
            <a:ext cx="1524000" cy="1524000"/>
          </a:xfrm>
          <a:prstGeom prst="ellipse">
            <a:avLst/>
          </a:prstGeom>
          <a:solidFill>
            <a:srgbClr val="3B82F6"/>
          </a:solidFill>
          <a:effectLst>
            <a:outerShdw blurRad="127000" dist="63500" dir="5400000">
              <a:srgbClr val="000000">
                <a:alpha val="60000"/>
              </a:srgbClr>
            </a:outerShdw>
          </a:effectLst>
        </p:spPr>
      </p:sp>
      <p:sp>
        <p:nvSpPr>
          <p:cNvPr id="6" name="Shape 5"/>
          <p:cNvSpPr/>
          <p:nvPr/>
        </p:nvSpPr>
        <p:spPr>
          <a:xfrm>
            <a:off x="7810500" y="1143000"/>
            <a:ext cx="1524000" cy="1524000"/>
          </a:xfrm>
          <a:prstGeom prst="diamond">
            <a:avLst/>
          </a:prstGeom>
          <a:solidFill>
            <a:srgbClr val="F59E0B"/>
          </a:solidFill>
          <a:effectLst>
            <a:glow rad="190500">
              <a:srgbClr val="EF4444"/>
            </a:glow>
          </a:effectLst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T3 · 文本编号列表/行距/缩进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143000"/>
            <a:ext cx="9906000" cy="4000500"/>
          </a:xfrm>
          <a:prstGeom prst="rect">
            <a:avLst/>
          </a:prstGeom>
        </p:spPr>
        <p:txBody>
          <a:bodyPr wrap="square" rtlCol="0"/>
          <a:lstStyle/>
          <a:p>
            <a:pPr algn="l">
              <a:buAutoNum type="ea1ChsPeriod" startAt="1"/>
            </a:pPr>
            <a:r>
              <a:rPr lang="zh-CN" sz="1800" dirty="0">
                <a:solidFill>
                  <a:srgbClr val="334155"/>
                </a:solidFill>
              </a:rPr>
              <a:t>编号第一项</a:t>
            </a:r>
          </a:p>
          <a:p>
            <a:pPr algn="l">
              <a:buAutoNum type="ea1ChsPeriod" startAt="1"/>
            </a:pPr>
            <a:r>
              <a:rPr lang="zh-CN" sz="1800" dirty="0">
                <a:solidFill>
                  <a:srgbClr val="334155"/>
                </a:solidFill>
              </a:rPr>
              <a:t>编号第二项</a:t>
            </a:r>
          </a:p>
          <a:p>
            <a:pPr algn="l" indent="508000">
              <a:lnSpc>
                <a:spcPts val="2800"/>
              </a:lnSpc>
              <a:spcBef>
                <a:spcPts val="1000"/>
              </a:spcBef>
              <a:spcAft>
                <a:spcPts val="1000"/>
              </a:spcAft>
              <a:buFont typeface="Arial"/>
              <a:buChar char="•"/>
            </a:pPr>
            <a:r>
              <a:rPr lang="zh-CN" sz="1800" dirty="0">
                <a:solidFill>
                  <a:srgbClr val="334155"/>
                </a:solidFill>
              </a:rPr>
              <a:t>缩进 + 行距28pt + 段前/后10</a:t>
            </a:r>
          </a:p>
          <a:p>
            <a:pPr algn="l">
              <a:buNone/>
            </a:pPr>
            <a:r>
              <a:rPr lang="zh-CN" sz="1800" dirty="0">
                <a:solidFill>
                  <a:srgbClr val="334155"/>
                </a:solidFill>
              </a:rPr>
              <a:t>普通项（无符号）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T4 · 组合 grpSp（childrenCoordinates=local）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62000" y="1143000"/>
            <a:ext cx="5715000" cy="3048000"/>
            <a:chOff x="0" y="0"/>
            <a:chExt cx="5715000" cy="3048000"/>
          </a:xfrm>
        </p:grpSpPr>
        <p:sp>
          <p:nvSpPr>
            <p:cNvPr id="4" name="Shape 3"/>
            <p:cNvSpPr/>
            <p:nvPr/>
          </p:nvSpPr>
          <p:spPr>
            <a:xfrm>
              <a:off x="0" y="0"/>
              <a:ext cx="1905000" cy="952500"/>
            </a:xfrm>
            <a:prstGeom prst="rect">
              <a:avLst/>
            </a:prstGeom>
            <a:solidFill>
              <a:srgbClr val="60A5FA"/>
            </a:solidFill>
          </p:spPr>
        </p:sp>
        <p:sp>
          <p:nvSpPr>
            <p:cNvPr id="5" name="TextBox 4"/>
            <p:cNvSpPr txBox="1"/>
            <p:nvPr/>
          </p:nvSpPr>
          <p:spPr>
            <a:xfrm>
              <a:off x="190500" y="1143000"/>
              <a:ext cx="3048000" cy="381000"/>
            </a:xfrm>
            <a:prstGeom prst="rect">
              <a:avLst/>
            </a:prstGeom>
          </p:spPr>
          <p:txBody>
            <a:bodyPr wrap="square" rtlCol="0"/>
            <a:lstStyle/>
            <a:p>
              <a:pPr algn="l">
                <a:buNone/>
              </a:pPr>
              <a:r>
                <a:rPr lang="zh-CN" sz="1800" dirty="0"/>
                <a:t>组合内文本</a:t>
              </a:r>
            </a:p>
          </p:txBody>
        </p:sp>
        <p:sp>
          <p:nvSpPr>
            <p:cNvPr id="6" name="Shape 5"/>
            <p:cNvSpPr/>
            <p:nvPr/>
          </p:nvSpPr>
          <p:spPr>
            <a:xfrm>
              <a:off x="2476500" y="571500"/>
              <a:ext cx="1143000" cy="1143000"/>
            </a:xfrm>
            <a:prstGeom prst="ellipse">
              <a:avLst/>
            </a:prstGeom>
            <a:solidFill>
              <a:srgbClr val="F472B6"/>
            </a:solid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T5 · 主题色引用（scheme:）</a:t>
            </a:r>
          </a:p>
        </p:txBody>
      </p:sp>
      <p:sp>
        <p:nvSpPr>
          <p:cNvPr id="3" name="Shape 2"/>
          <p:cNvSpPr/>
          <p:nvPr/>
        </p:nvSpPr>
        <p:spPr>
          <a:xfrm>
            <a:off x="571500" y="1143000"/>
            <a:ext cx="2286000" cy="1143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dk1"/>
            </a:solidFill>
          </a:ln>
        </p:spPr>
      </p:sp>
      <p:sp>
        <p:nvSpPr>
          <p:cNvPr id="4" name="Shape 3"/>
          <p:cNvSpPr/>
          <p:nvPr/>
        </p:nvSpPr>
        <p:spPr>
          <a:xfrm>
            <a:off x="3238500" y="1143000"/>
            <a:ext cx="2286000" cy="1143000"/>
          </a:xfrm>
          <a:prstGeom prst="roundRect">
            <a:avLst/>
          </a:prstGeom>
          <a:solidFill>
            <a:schemeClr val="accent2"/>
          </a:solidFill>
        </p:spPr>
      </p:sp>
      <p:sp>
        <p:nvSpPr>
          <p:cNvPr id="5" name="Shape 4"/>
          <p:cNvSpPr/>
          <p:nvPr/>
        </p:nvSpPr>
        <p:spPr>
          <a:xfrm>
            <a:off x="5905500" y="1143000"/>
            <a:ext cx="1524000" cy="1524000"/>
          </a:xfrm>
          <a:prstGeom prst="ellipse">
            <a:avLst/>
          </a:prstGeom>
          <a:solidFill>
            <a:schemeClr val="accent3"/>
          </a:solidFill>
        </p:spPr>
      </p:sp>
      <p:sp>
        <p:nvSpPr>
          <p:cNvPr id="6" name="TextBox 5"/>
          <p:cNvSpPr txBox="1"/>
          <p:nvPr/>
        </p:nvSpPr>
        <p:spPr>
          <a:xfrm>
            <a:off x="571500" y="2857500"/>
            <a:ext cx="9906000" cy="38100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1800" dirty="0">
                <a:solidFill>
                  <a:schemeClr val="dk1"/>
                </a:solidFill>
              </a:rPr>
              <a:t>引用 scheme:accent1/2/3 与 scheme:dk1（自定义主题见 T17）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T6 · 形状图片填充 / 图案填充 / 平铺裁剪</a:t>
            </a:r>
          </a:p>
        </p:txBody>
      </p:sp>
      <p:sp>
        <p:nvSpPr>
          <p:cNvPr id="3" name="Shape 2"/>
          <p:cNvSpPr/>
          <p:nvPr/>
        </p:nvSpPr>
        <p:spPr>
          <a:xfrm>
            <a:off x="571500" y="1143000"/>
            <a:ext cx="2286000" cy="1524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sp>
      <p:sp>
        <p:nvSpPr>
          <p:cNvPr id="4" name="Shape 3"/>
          <p:cNvSpPr/>
          <p:nvPr/>
        </p:nvSpPr>
        <p:spPr>
          <a:xfrm>
            <a:off x="3238500" y="1143000"/>
            <a:ext cx="2286000" cy="1524000"/>
          </a:xfrm>
          <a:prstGeom prst="roundRect">
            <a:avLst/>
          </a:prstGeom>
          <a:pattFill prst="diagCross">
            <a:fgClr>
              <a:srgbClr val="EF4444"/>
            </a:fgClr>
            <a:bgClr>
              <a:srgbClr val="FEF3C7"/>
            </a:bgClr>
          </a:pattFill>
        </p:spPr>
      </p:sp>
      <p:sp>
        <p:nvSpPr>
          <p:cNvPr id="5" name="Shape 4"/>
          <p:cNvSpPr/>
          <p:nvPr/>
        </p:nvSpPr>
        <p:spPr>
          <a:xfrm>
            <a:off x="5905500" y="1143000"/>
            <a:ext cx="2286000" cy="1524000"/>
          </a:xfrm>
          <a:prstGeom prst="rect">
            <a:avLst/>
          </a:prstGeom>
          <a:blipFill>
            <a:blip r:embed="rId3"/>
            <a:tile sx="100000" sy="100000" tx="0" ty="0"/>
          </a:blipFill>
        </p:spPr>
      </p:sp>
      <p:sp>
        <p:nvSpPr>
          <p:cNvPr id="6" name="Shape 5"/>
          <p:cNvSpPr/>
          <p:nvPr/>
        </p:nvSpPr>
        <p:spPr>
          <a:xfrm>
            <a:off x="8572500" y="1143000"/>
            <a:ext cx="2286000" cy="1524000"/>
          </a:xfrm>
          <a:prstGeom prst="rect">
            <a:avLst/>
          </a:prstGeom>
          <a:blipFill>
            <a:blip r:embed="rId4"/>
            <a:srcRect l="25000" t="25000" r="25000" b="25000"/>
            <a:tile sx="100000" sy="100000" tx="0" ty="0"/>
          </a:blipFill>
        </p:spPr>
      </p:sp>
      <p:sp>
        <p:nvSpPr>
          <p:cNvPr id="7" name="TextBox 6"/>
          <p:cNvSpPr txBox="1"/>
          <p:nvPr/>
        </p:nvSpPr>
        <p:spPr>
          <a:xfrm>
            <a:off x="571500" y="2857500"/>
            <a:ext cx="10477500" cy="57150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1400" dirty="0">
                <a:solidFill>
                  <a:srgbClr val="475569"/>
                </a:solidFill>
              </a:rPr>
              <a:t>① 图片铺满｜② 图案填充 diagCross｜③ 图片平铺（每格 = 原图 32px）｜④ 平铺 + 裁剪居中 50%（每格显示原图中心 16px）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T7 · 形状几何调整 avLst</a:t>
            </a:r>
          </a:p>
        </p:txBody>
      </p:sp>
      <p:sp>
        <p:nvSpPr>
          <p:cNvPr id="3" name="Shape 2"/>
          <p:cNvSpPr/>
          <p:nvPr/>
        </p:nvSpPr>
        <p:spPr>
          <a:xfrm>
            <a:off x="571500" y="1143000"/>
            <a:ext cx="2286000" cy="1143000"/>
          </a:xfrm>
          <a:prstGeom prst="roundRect">
            <a:avLst>
              <a:gd name="adj" fmla="val 30000"/>
            </a:avLst>
          </a:prstGeom>
          <a:solidFill>
            <a:srgbClr val="6366F1"/>
          </a:solidFill>
        </p:spPr>
      </p:sp>
      <p:sp>
        <p:nvSpPr>
          <p:cNvPr id="4" name="Shape 3"/>
          <p:cNvSpPr/>
          <p:nvPr/>
        </p:nvSpPr>
        <p:spPr>
          <a:xfrm>
            <a:off x="3238500" y="1143000"/>
            <a:ext cx="2286000" cy="1143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10B981"/>
          </a:solidFill>
        </p:spPr>
      </p:sp>
      <p:sp>
        <p:nvSpPr>
          <p:cNvPr id="5" name="Shape 4"/>
          <p:cNvSpPr/>
          <p:nvPr/>
        </p:nvSpPr>
        <p:spPr>
          <a:xfrm>
            <a:off x="5905500" y="1143000"/>
            <a:ext cx="2286000" cy="1143000"/>
          </a:xfrm>
          <a:prstGeom prst="rightArrow">
            <a:avLst>
              <a:gd name="adj1" fmla="val 30000"/>
              <a:gd name="adj2" fmla="val 100000"/>
            </a:avLst>
          </a:prstGeom>
          <a:solidFill>
            <a:srgbClr val="0EA5E9"/>
          </a:solidFill>
        </p:spPr>
      </p:sp>
      <p:sp>
        <p:nvSpPr>
          <p:cNvPr id="6" name="TextBox 5"/>
          <p:cNvSpPr txBox="1"/>
          <p:nvPr/>
        </p:nvSpPr>
        <p:spPr>
          <a:xfrm>
            <a:off x="571500" y="2857500"/>
            <a:ext cx="8572500" cy="38100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1400" dirty="0">
                <a:solidFill>
                  <a:srgbClr val="475569"/>
                </a:solidFill>
              </a:rPr>
              <a:t>圆角矩形 adj=30000｜箭头 adj1=50000/adj2=40000（箭头长 20%）｜箭头 adj1=30000/adj2=100000（箭头长 50%、箭身更细）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T8 · 水平/垂直翻转</a:t>
            </a:r>
          </a:p>
        </p:txBody>
      </p:sp>
      <p:sp>
        <p:nvSpPr>
          <p:cNvPr id="3" name="Shape 2"/>
          <p:cNvSpPr/>
          <p:nvPr/>
        </p:nvSpPr>
        <p:spPr>
          <a:xfrm flipH="1">
            <a:off x="571500" y="1143000"/>
            <a:ext cx="1905000" cy="133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Shape 3"/>
          <p:cNvSpPr/>
          <p:nvPr/>
        </p:nvSpPr>
        <p:spPr>
          <a:xfrm flipV="1">
            <a:off x="3048000" y="1143000"/>
            <a:ext cx="1905000" cy="13335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5" name="Shape 4"/>
          <p:cNvSpPr/>
          <p:nvPr/>
        </p:nvSpPr>
        <p:spPr>
          <a:xfrm flipH="1" flipV="1">
            <a:off x="5524500" y="1143000"/>
            <a:ext cx="1524000" cy="1524000"/>
          </a:xfrm>
          <a:prstGeom prst="diamond">
            <a:avLst/>
          </a:prstGeom>
          <a:solidFill>
            <a:srgbClr val="10B981"/>
          </a:solid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T9 · 文本框内边距 / 竖排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143000"/>
            <a:ext cx="2286000" cy="1905000"/>
          </a:xfrm>
          <a:prstGeom prst="rect">
            <a:avLst/>
          </a:prstGeom>
        </p:spPr>
        <p:txBody>
          <a:bodyPr wrap="square" rtlCol="0" lIns="190500" rIns="190500" tIns="190500" bIns="190500"/>
          <a:lstStyle/>
          <a:p>
            <a:pPr algn="l">
              <a:buNone/>
            </a:pPr>
            <a:r>
              <a:rPr lang="zh-CN" sz="1600" dirty="0">
                <a:solidFill>
                  <a:srgbClr val="0F172A"/>
                </a:solidFill>
              </a:rPr>
              <a:t>内边距 l/r/t/b=20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143000"/>
            <a:ext cx="1524000" cy="3048000"/>
          </a:xfrm>
          <a:prstGeom prst="rect">
            <a:avLst/>
          </a:prstGeom>
        </p:spPr>
        <p:txBody>
          <a:bodyPr wrap="square" rtlCol="0" vert="eaVert"/>
          <a:lstStyle/>
          <a:p>
            <a:pPr algn="l">
              <a:buNone/>
            </a:pPr>
            <a:r>
              <a:rPr lang="zh-CN" sz="2200" dirty="0">
                <a:solidFill>
                  <a:srgbClr val="7C3AED"/>
                </a:solidFill>
              </a:rPr>
              <a:t>竖排文字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T10 · 单元格内边距/对角线/表格样式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1143000"/>
          <a:ext cx="857250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</a:tblGrid>
              <a:tr h="1238250">
                <a:tc>
                  <a:txBody>
                    <a:bodyPr wrap="square" rtlCol="0"/>
                    <a:lstStyle/>
                    <a:p>
                      <a:pPr algn="l">
                        <a:buNone/>
                      </a:pPr>
                      <a:r>
                        <a:rPr lang="zh-CN" dirty="0"/>
                        <a:t>内边距 20px</a:t>
                      </a:r>
                    </a:p>
                  </a:txBody>
                  <a:tcPr anchor="t" marL="190500" marR="190500" marT="95250" marB="95250"/>
                </a:tc>
                <a:tc>
                  <a:txBody>
                    <a:bodyPr wrap="square" rtlCol="0"/>
                    <a:lstStyle/>
                    <a:p>
                      <a:pPr algn="l">
                        <a:buNone/>
                      </a:pPr>
                      <a:r>
                        <a:rPr lang="zh-CN" dirty="0"/>
                        <a:t>对角线 tlBr</a:t>
                      </a:r>
                    </a:p>
                  </a:txBody>
                  <a:tcPr anchor="t">
                    <a:lnTlToBr w="12700" cap="flat" cmpd="sng" algn="ctr">
                      <a:solidFill>
                        <a:srgbClr val="000000"/>
                      </a:solidFill>
                    </a:lnTlToBr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buNone/>
                      </a:pPr>
                      <a:r>
                        <a:rPr lang="zh-CN" dirty="0"/>
                        <a:t>对角线 both</a:t>
                      </a:r>
                    </a:p>
                  </a:txBody>
                  <a:tcPr anchor="t">
                    <a:lnTlToBr w="12700" cap="flat" cmpd="sng" algn="ctr">
                      <a:solidFill>
                        <a:srgbClr val="000000"/>
                      </a:solidFill>
                    </a:lnTlToBr>
                    <a:lnBlToTr w="12700" cap="flat" cmpd="sng" algn="ctr">
                      <a:solidFill>
                        <a:srgbClr val="000000"/>
                      </a:solidFill>
                    </a:lnBlToTr>
                  </a:tcPr>
                </a:tc>
              </a:tr>
              <a:tr h="1238250">
                <a:tc>
                  <a:txBody>
                    <a:bodyPr wrap="square" rtlCol="0"/>
                    <a:lstStyle/>
                    <a:p>
                      <a:pPr algn="l">
                        <a:buNone/>
                      </a:pPr>
                      <a:r>
                        <a:rPr lang="zh-CN" dirty="0"/>
                        <a:t>A：默认内边距</a:t>
                      </a:r>
                    </a:p>
                  </a:txBody>
                  <a:tcPr anchor="t"/>
                </a:tc>
                <a:tc>
                  <a:txBody>
                    <a:bodyPr wrap="square" rtlCol="0"/>
                    <a:lstStyle/>
                    <a:p>
                      <a:pPr algn="l">
                        <a:buNone/>
                      </a:pPr>
                      <a:r>
                        <a:rPr lang="zh-CN" dirty="0"/>
                        <a:t>B</a:t>
                      </a:r>
                    </a:p>
                  </a:txBody>
                  <a:tcPr anchor="t"/>
                </a:tc>
                <a:tc>
                  <a:txBody>
                    <a:bodyPr wrap="square" rtlCol="0"/>
                    <a:lstStyle/>
                    <a:p>
                      <a:pPr algn="l">
                        <a:buNone/>
                      </a:pPr>
                      <a:r>
                        <a:rPr lang="zh-CN" dirty="0"/>
                        <a:t>C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71500" y="3810000"/>
            <a:ext cx="8572500" cy="38100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1400" dirty="0">
                <a:solidFill>
                  <a:srgbClr val="475569"/>
                </a:solidFill>
              </a:rPr>
              <a:t>样式：Medium Style 2 - Accent 1（首行强调色底+白字、白色网格线）｜内边距：左上 20/10px，其余用默认 9.6/4.8px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T11 · 图表全覆盖（一）基础二维 + 分组/平滑/标记/格式</a:t>
            </a:r>
          </a:p>
        </p:txBody>
      </p:sp>
      <p:graphicFrame>
        <p:nvGraphicFramePr>
          <p:cNvPr id="3" name="Chart 1"/>
          <p:cNvGraphicFramePr/>
          <p:nvPr/>
        </p:nvGraphicFramePr>
        <a:xfrm>
          <a:off x="381000" y="1047750"/>
          <a:ext cx="3619500" cy="1905000"/>
        </a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2"/>
          <p:cNvGraphicFramePr/>
          <p:nvPr/>
        </p:nvGraphicFramePr>
        <a:xfrm>
          <a:off x="4191000" y="1047750"/>
          <a:ext cx="3619500" cy="1905000"/>
        </a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3"/>
          <p:cNvGraphicFramePr/>
          <p:nvPr/>
        </p:nvGraphicFramePr>
        <a:xfrm>
          <a:off x="8001000" y="1047750"/>
          <a:ext cx="3619500" cy="1905000"/>
        </a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4"/>
          <p:cNvGraphicFramePr/>
          <p:nvPr/>
        </p:nvGraphicFramePr>
        <a:xfrm>
          <a:off x="381000" y="3143250"/>
          <a:ext cx="3619500" cy="1905000"/>
        </a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hart 5"/>
          <p:cNvGraphicFramePr/>
          <p:nvPr/>
        </p:nvGraphicFramePr>
        <a:xfrm>
          <a:off x="4191000" y="3143250"/>
          <a:ext cx="3619500" cy="1905000"/>
        </a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8" name="Chart 6"/>
          <p:cNvGraphicFramePr/>
          <p:nvPr/>
        </p:nvGraphicFramePr>
        <a:xfrm>
          <a:off x="8001000" y="3143250"/>
          <a:ext cx="3619500" cy="1905000"/>
        </a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T11 · 图表全覆盖（二）3D 图表 + wireframe</a:t>
            </a:r>
          </a:p>
        </p:txBody>
      </p:sp>
      <p:graphicFrame>
        <p:nvGraphicFramePr>
          <p:cNvPr id="3" name="Chart 7"/>
          <p:cNvGraphicFramePr/>
          <p:nvPr/>
        </p:nvGraphicFramePr>
        <a:xfrm>
          <a:off x="381000" y="1047750"/>
          <a:ext cx="3619500" cy="1905000"/>
        </a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8"/>
          <p:cNvGraphicFramePr/>
          <p:nvPr/>
        </p:nvGraphicFramePr>
        <a:xfrm>
          <a:off x="4191000" y="1047750"/>
          <a:ext cx="3619500" cy="1905000"/>
        </a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9"/>
          <p:cNvGraphicFramePr/>
          <p:nvPr/>
        </p:nvGraphicFramePr>
        <a:xfrm>
          <a:off x="8001000" y="1047750"/>
          <a:ext cx="3619500" cy="1905000"/>
        </a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10"/>
          <p:cNvGraphicFramePr/>
          <p:nvPr/>
        </p:nvGraphicFramePr>
        <a:xfrm>
          <a:off x="381000" y="3143250"/>
          <a:ext cx="3619500" cy="1905000"/>
        </a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hart 11"/>
          <p:cNvGraphicFramePr/>
          <p:nvPr/>
        </p:nvGraphicFramePr>
        <a:xfrm>
          <a:off x="4191000" y="3143250"/>
          <a:ext cx="3619500" cy="1905000"/>
        </a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8" name="Chart 12"/>
          <p:cNvGraphicFramePr/>
          <p:nvPr/>
        </p:nvGraphicFramePr>
        <a:xfrm>
          <a:off x="8001000" y="3143250"/>
          <a:ext cx="3619500" cy="1905000"/>
        </a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T11 · 图表全覆盖（三）特殊图表 + holeSize/ofPieType/bubble3D</a:t>
            </a:r>
          </a:p>
        </p:txBody>
      </p:sp>
      <p:graphicFrame>
        <p:nvGraphicFramePr>
          <p:cNvPr id="3" name="Chart 13"/>
          <p:cNvGraphicFramePr/>
          <p:nvPr/>
        </p:nvGraphicFramePr>
        <a:xfrm>
          <a:off x="381000" y="1047750"/>
          <a:ext cx="3619500" cy="1905000"/>
        </a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14"/>
          <p:cNvGraphicFramePr/>
          <p:nvPr/>
        </p:nvGraphicFramePr>
        <a:xfrm>
          <a:off x="4191000" y="1047750"/>
          <a:ext cx="3619500" cy="1905000"/>
        </a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5"/>
          <p:cNvGraphicFramePr/>
          <p:nvPr/>
        </p:nvGraphicFramePr>
        <a:xfrm>
          <a:off x="8001000" y="1047750"/>
          <a:ext cx="3619500" cy="1905000"/>
        </a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16"/>
          <p:cNvGraphicFramePr/>
          <p:nvPr/>
        </p:nvGraphicFramePr>
        <a:xfrm>
          <a:off x="381000" y="3143250"/>
          <a:ext cx="3619500" cy="1905000"/>
        </a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hart 17"/>
          <p:cNvGraphicFramePr/>
          <p:nvPr/>
        </p:nvGraphicFramePr>
        <a:xfrm>
          <a:off x="4191000" y="3143250"/>
          <a:ext cx="3619500" cy="1905000"/>
        </a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8" name="Chart 18"/>
          <p:cNvGraphicFramePr/>
          <p:nvPr/>
        </p:nvGraphicFramePr>
        <a:xfrm>
          <a:off x="8001000" y="3143250"/>
          <a:ext cx="3619500" cy="1905000"/>
        </a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T12 · 图片裁剪 / 调整(亮度/对比度/透明度)</a:t>
            </a:r>
          </a:p>
        </p:txBody>
      </p:sp>
      <p:pic>
        <p:nvPicPr>
          <p:cNvPr id="3" name="Origin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43000"/>
            <a:ext cx="2286000" cy="2286000"/>
          </a:xfrm>
          <a:prstGeom prst="rect">
            <a:avLst/>
          </a:prstGeom>
        </p:spPr>
      </p:pic>
      <p:pic>
        <p:nvPicPr>
          <p:cNvPr id="4" name="Crop"/>
          <p:cNvPicPr>
            <a:picLocks noChangeAspect="1"/>
          </p:cNvPicPr>
          <p:nvPr/>
        </p:nvPicPr>
        <p:blipFill>
          <a:blip r:embed="rId3"/>
          <a:srcRect l="10000" r="10000" t="10000" b="10000"/>
          <a:stretch>
            <a:fillRect/>
          </a:stretch>
        </p:blipFill>
        <p:spPr>
          <a:xfrm>
            <a:off x="3429000" y="1143000"/>
            <a:ext cx="2286000" cy="2286000"/>
          </a:xfrm>
          <a:prstGeom prst="rect">
            <a:avLst/>
          </a:prstGeom>
        </p:spPr>
      </p:pic>
      <p:pic>
        <p:nvPicPr>
          <p:cNvPr id="5" name="Adjust"/>
          <p:cNvPicPr>
            <a:picLocks noChangeAspect="1"/>
          </p:cNvPicPr>
          <p:nvPr/>
        </p:nvPicPr>
        <p:blipFill>
          <a:blip r:embed="rId4">
            <a:lum bright="20000" contrast="30000"/>
            <a:alphaModFix amt="90000"/>
          </a:blip>
          <a:stretch>
            <a:fillRect/>
          </a:stretch>
        </p:blipFill>
        <p:spPr>
          <a:xfrm>
            <a:off x="6286500" y="114300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3619500"/>
            <a:ext cx="9906000" cy="38100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1600" dirty="0">
                <a:solidFill>
                  <a:srgbClr val="475569"/>
                </a:solidFill>
              </a:rPr>
              <a:t>左：原图　中：四边各裁 10%（边缘被切、内容放大）　右：亮度 +20 / 对比度 +30 / 透明 10%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T13 · 动画 timing（淡入 + 自动播放）</a:t>
            </a:r>
          </a:p>
        </p:txBody>
      </p:sp>
      <p:sp>
        <p:nvSpPr>
          <p:cNvPr id="3" name="AnimShape"/>
          <p:cNvSpPr/>
          <p:nvPr/>
        </p:nvSpPr>
        <p:spPr>
          <a:xfrm>
            <a:off x="2286000" y="1714500"/>
            <a:ext cx="3048000" cy="1524000"/>
          </a:xfrm>
          <a:prstGeom prst="rect">
            <a:avLst/>
          </a:prstGeom>
          <a:solidFill>
            <a:srgbClr val="6366F1"/>
          </a:solidFill>
        </p:spPr>
      </p:sp>
    </p:spTree>
  </p:cSld>
  <p:timing>
    <p:tnLst>
      <p:par>
        <p:cTn id="1" fill="hold">
          <p:stCondLst>
            <p:cond type="afterPrev"/>
          </p:stCondLst>
          <p:childTnLst>
            <p:cTn id="11" fill="hold">
              <p:tgtEl>
                <p:spTgt spid="3"/>
              </p:tgtEl>
              <p:childTnLst>
                <p:cTn id="12" presetClass="entr" presetId="1" type="withEffect" preset="fade">
                  <p:cTn id="10" dur="1000" fill="hold"/>
                </p:cTn>
              </p:childTnLst>
            </p:cTn>
          </p:childTnLst>
        </p:cTn>
      </p:par>
    </p:tnLst>
  </p:timing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T14 · 切换/自动播放 + 隐藏幻灯片</a:t>
            </a:r>
          </a:p>
        </p:txBody>
      </p:sp>
      <p:sp>
        <p:nvSpPr>
          <p:cNvPr id="3" name="Shape 2"/>
          <p:cNvSpPr/>
          <p:nvPr/>
        </p:nvSpPr>
        <p:spPr>
          <a:xfrm>
            <a:off x="2286000" y="1714500"/>
            <a:ext cx="3048000" cy="1524000"/>
          </a:xfrm>
          <a:prstGeom prst="rect">
            <a:avLst/>
          </a:prstGeom>
          <a:solidFill>
            <a:srgbClr val="10B981"/>
          </a:solidFill>
        </p:spPr>
      </p:sp>
    </p:spTree>
  </p:cSld>
  <p:transition spd="2">
    <p:fade/>
  </p:transition>
  <p:timing>
    <p:tnLst>
      <p:par>
        <p:cTn id="1" fill="hold">
          <p:stCondLst>
            <p:cond type="afterPrev"/>
          </p:stCondLst>
          <p:childTnLst>
            <p:cTn id="2" fill="hold">
              <p:stCondLst>
                <p:cond type="afterTime" val="3000"/>
              </p:stCondLst>
              <p:childTnLst>
                <p:cTn id="3" pres="sld" fill="hold"/>
              </p:childTnLst>
            </p:cTn>
          </p:childTnLst>
        </p:cTn>
      </p:par>
    </p:tnLst>
  </p:timing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T15 · 视频 / 音频 media</a:t>
            </a:r>
          </a:p>
        </p:txBody>
      </p:sp>
      <p:pic>
        <p:nvPicPr>
          <p:cNvPr id="3" name="Vid"/>
          <p:cNvPicPr/>
          <p:nvPr>
            <a:videoFile r:link="rId2"/>
          </p:nvPr>
        </p:nvPicPr>
        <p:blipFill>
          <a:blip r:embed="rId3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4" name="Aud"/>
          <p:cNvPicPr/>
          <p:nvPr>
            <a:audioFile r:link="rId4"/>
          </p:nvPr>
        </p:nvPicPr>
        <p:blipFill>
          <a:blip r:embed="rId4"/>
          <a:stretch>
            <a:fillRect/>
          </a:stretch>
        </p:blipFill>
        <p:spPr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T16 · SmartArt 图示（结构级四件套）</a:t>
            </a:r>
          </a:p>
        </p:txBody>
      </p:sp>
      <p:graphicFrame>
        <p:nvGraphicFramePr>
          <p:cNvPr id="3" name="Diagram 3"/>
          <p:cNvGraphicFramePr/>
          <p:nvPr/>
        </p:nvGraphicFramePr>
        <p:xfrm>
          <a:off x="571500" y="1143000"/>
          <a:ext cx="78105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cs="rId3" r:dm="rId2" r:lo="rId4" r:q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T17 · 自定义主题覆盖（options.theme）</a:t>
            </a:r>
          </a:p>
        </p:txBody>
      </p:sp>
      <p:sp>
        <p:nvSpPr>
          <p:cNvPr id="3" name="Shape 2"/>
          <p:cNvSpPr/>
          <p:nvPr/>
        </p:nvSpPr>
        <p:spPr>
          <a:xfrm>
            <a:off x="571500" y="1143000"/>
            <a:ext cx="2286000" cy="1143000"/>
          </a:xfrm>
          <a:prstGeom prst="rect">
            <a:avLst/>
          </a:prstGeom>
          <a:solidFill>
            <a:schemeClr val="accent4"/>
          </a:solidFill>
        </p:spPr>
      </p:sp>
      <p:sp>
        <p:nvSpPr>
          <p:cNvPr id="4" name="Shape 3"/>
          <p:cNvSpPr/>
          <p:nvPr/>
        </p:nvSpPr>
        <p:spPr>
          <a:xfrm>
            <a:off x="3238500" y="1143000"/>
            <a:ext cx="2286000" cy="1143000"/>
          </a:xfrm>
          <a:prstGeom prst="roundRect">
            <a:avLst/>
          </a:prstGeom>
          <a:solidFill>
            <a:schemeClr val="accent5"/>
          </a:solidFill>
        </p:spPr>
      </p:sp>
      <p:sp>
        <p:nvSpPr>
          <p:cNvPr id="5" name="TextBox 4"/>
          <p:cNvSpPr txBox="1"/>
          <p:nvPr/>
        </p:nvSpPr>
        <p:spPr>
          <a:xfrm>
            <a:off x="571500" y="2667000"/>
            <a:ext cx="9906000" cy="38100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1800" dirty="0">
                <a:solidFill>
                  <a:schemeClr val="dk2"/>
                </a:solidFill>
              </a:rPr>
              <a:t>accent4/accent5 使用自定义主题色（theme1.xml 已覆盖）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T18 · 批注 comments</a:t>
            </a:r>
          </a:p>
        </p:txBody>
      </p:sp>
      <p:sp>
        <p:nvSpPr>
          <p:cNvPr id="3" name="Shape 2"/>
          <p:cNvSpPr/>
          <p:nvPr/>
        </p:nvSpPr>
        <p:spPr>
          <a:xfrm>
            <a:off x="1905000" y="1905000"/>
            <a:ext cx="2857500" cy="1143000"/>
          </a:xfrm>
          <a:prstGeom prst="foldedCorner">
            <a:avLst/>
          </a:prstGeom>
          <a:solidFill>
            <a:srgbClr val="FDE68A"/>
          </a:solid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47625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3000" b="1" dirty="0">
                <a:solidFill>
                  <a:srgbClr val="0F172A"/>
                </a:solidFill>
              </a:rPr>
              <a:t>T19 · 自定义文档属性（docProps/custom.xml）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238250"/>
            <a:ext cx="9906000" cy="381000"/>
          </a:xfrm>
          <a:prstGeom prst="rect">
            <a:avLst/>
          </a:prstGeom>
        </p:spPr>
        <p:txBody>
          <a:bodyPr wrap="square" rtlCol="0"/>
          <a:lstStyle/>
          <a:p>
            <a:pPr algn="l">
              <a:buNone/>
            </a:pPr>
            <a:r>
              <a:rPr lang="zh-CN" sz="1800" dirty="0">
                <a:solidFill>
                  <a:srgbClr val="475569"/>
                </a:solidFill>
              </a:rPr>
              <a:t>本文档写入了自定义属性：部门 / 版本 / 项目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Test">
  <a:themeElements>
    <a:clrScheme name="CustomTest">
      <a:dk1>
        <a:sysClr val="windowText" lastClr="1F2937"/>
      </a:dk1>
      <a:lt1>
        <a:sysClr val="window" lastClr="F8FAFC"/>
      </a:lt1>
      <a:dk2>
        <a:srgbClr val="0F172A"/>
      </a:dk2>
      <a:lt2>
        <a:srgbClr val="FFFFFF"/>
      </a:lt2>
      <a:accent1>
        <a:srgbClr val="6366F1"/>
      </a:accent1>
      <a:accent2>
        <a:srgbClr val="EC4899"/>
      </a:accent2>
      <a:accent3>
        <a:srgbClr val="10B981"/>
      </a:accent3>
      <a:accent4>
        <a:srgbClr val="F59E0B"/>
      </a:accent4>
      <a:accent5>
        <a:srgbClr val="3B82F6"/>
      </a:accent5>
      <a:accent6>
        <a:srgbClr val="8B5CF6"/>
      </a:accent6>
      <a:hlink>
        <a:srgbClr val="2563EB"/>
      </a:hlink>
      <a:folHlink>
        <a:srgbClr val="9333EA"/>
      </a:folHlink>
    </a:clrScheme>
    <a:fontScheme name="CustomTes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ustomTes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21</Slide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序列化能力全覆盖（每功能点一页）</dc:title>
  <dc:subject>真机打开验证</dc:subject>
  <dc:creator>pptx-parser</dc:creator>
  <cp:keywords>serializer;test;T1-T19</cp:keywords>
  <dc:description>覆盖 T1-T19 全部生成能力（T11 图表 16 类型全覆盖）</dc:description>
  <cp:lastModifiedBy>pptx-parser</cp:lastModifiedBy>
  <dcterms:created xsi:type="dcterms:W3CDTF">2026-10-02T16:02:03Z</dcterms:created>
  <dcterms:modified xsi:type="dcterms:W3CDTF">2026-10-02T16:02:03Z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部门">
    <vt:lpwstr>研发</vt:lpwstr>
  </property>
  <property fmtid="{D5CDD505-2E9C-101B-9397-08002B2CF9AE}" pid="3" name="版本">
    <vt:lpwstr>1.0</vt:lpwstr>
  </property>
  <property fmtid="{D5CDD505-2E9C-101B-9397-08002B2CF9AE}" pid="4" name="项目">
    <vt:lpwstr>pptx-parser</vt:lpwstr>
  </property>
</Properties>
</file>